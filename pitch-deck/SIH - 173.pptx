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Times New Roman" charset="1" panose="02020603050405020304"/>
      <p:regular r:id="rId19"/>
    </p:embeddedFon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nva Sans Bold" charset="1" panose="020B0803030501040103"/>
      <p:regular r:id="rId22"/>
    </p:embeddedFont>
    <p:embeddedFont>
      <p:font typeface="Poppins" charset="1" panose="00000500000000000000"/>
      <p:regular r:id="rId23"/>
    </p:embeddedFont>
    <p:embeddedFont>
      <p:font typeface="Helvetica World Bold" charset="1" panose="020B0800040000020004"/>
      <p:regular r:id="rId25"/>
    </p:embeddedFont>
    <p:embeddedFont>
      <p:font typeface="Helvetica World" charset="1" panose="020B050004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39567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36735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6929" y="2258797"/>
            <a:ext cx="12642252" cy="771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26173</a:t>
            </a:r>
          </a:p>
          <a:p>
            <a:pPr algn="just" marL="579122" indent="-289561" lvl="1">
              <a:lnSpc>
                <a:spcPts val="76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iTantra -Indian Multilingual TTS &amp; STT Aided Neural Transceiver Radio Access for low bitrate links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147967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StepX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390" y="-761114"/>
            <a:ext cx="18105120" cy="1901168"/>
            <a:chOff x="0" y="0"/>
            <a:chExt cx="24140160" cy="2534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40161" cy="2534890"/>
            </a:xfrm>
            <a:custGeom>
              <a:avLst/>
              <a:gdLst/>
              <a:ahLst/>
              <a:cxnLst/>
              <a:rect r="r" b="b" t="t" l="l"/>
              <a:pathLst>
                <a:path h="2534890" w="24140161">
                  <a:moveTo>
                    <a:pt x="0" y="0"/>
                  </a:moveTo>
                  <a:lnTo>
                    <a:pt x="24140161" y="0"/>
                  </a:lnTo>
                  <a:lnTo>
                    <a:pt x="24140161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9090" b="-113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14016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SANWAD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189470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595735" y="990600"/>
            <a:ext cx="749461" cy="749461"/>
          </a:xfrm>
          <a:custGeom>
            <a:avLst/>
            <a:gdLst/>
            <a:ahLst/>
            <a:cxnLst/>
            <a:rect r="r" b="b" t="t" l="l"/>
            <a:pathLst>
              <a:path h="749461" w="749461">
                <a:moveTo>
                  <a:pt x="0" y="0"/>
                </a:moveTo>
                <a:lnTo>
                  <a:pt x="749462" y="0"/>
                </a:lnTo>
                <a:lnTo>
                  <a:pt x="749462" y="749461"/>
                </a:lnTo>
                <a:lnTo>
                  <a:pt x="0" y="749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61713" y="1830334"/>
            <a:ext cx="9038324" cy="2425280"/>
            <a:chOff x="0" y="0"/>
            <a:chExt cx="13599780" cy="36492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99719" cy="3649218"/>
            </a:xfrm>
            <a:custGeom>
              <a:avLst/>
              <a:gdLst/>
              <a:ahLst/>
              <a:cxnLst/>
              <a:rect r="r" b="b" t="t" l="l"/>
              <a:pathLst>
                <a:path h="3649218" w="13599719">
                  <a:moveTo>
                    <a:pt x="0" y="218948"/>
                  </a:moveTo>
                  <a:cubicBezTo>
                    <a:pt x="0" y="98044"/>
                    <a:pt x="118193" y="0"/>
                    <a:pt x="263944" y="0"/>
                  </a:cubicBezTo>
                  <a:lnTo>
                    <a:pt x="13335774" y="0"/>
                  </a:lnTo>
                  <a:cubicBezTo>
                    <a:pt x="13481526" y="0"/>
                    <a:pt x="13599719" y="98044"/>
                    <a:pt x="13599719" y="218948"/>
                  </a:cubicBezTo>
                  <a:lnTo>
                    <a:pt x="13599719" y="3430270"/>
                  </a:lnTo>
                  <a:cubicBezTo>
                    <a:pt x="13599719" y="3551174"/>
                    <a:pt x="13481526" y="3649218"/>
                    <a:pt x="13335774" y="3649218"/>
                  </a:cubicBezTo>
                  <a:lnTo>
                    <a:pt x="263944" y="3649218"/>
                  </a:lnTo>
                  <a:cubicBezTo>
                    <a:pt x="118193" y="3649218"/>
                    <a:pt x="0" y="3551301"/>
                    <a:pt x="0" y="3430270"/>
                  </a:cubicBezTo>
                  <a:close/>
                </a:path>
              </a:pathLst>
            </a:custGeom>
            <a:solidFill>
              <a:srgbClr val="F0EFEC"/>
            </a:solidFill>
            <a:ln w="19065" cap="sq">
              <a:solidFill>
                <a:srgbClr val="D8D35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354770" y="1015695"/>
            <a:ext cx="947654" cy="699272"/>
            <a:chOff x="0" y="0"/>
            <a:chExt cx="1263539" cy="9323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3539" cy="932362"/>
            </a:xfrm>
            <a:custGeom>
              <a:avLst/>
              <a:gdLst/>
              <a:ahLst/>
              <a:cxnLst/>
              <a:rect r="r" b="b" t="t" l="l"/>
              <a:pathLst>
                <a:path h="932362" w="1263539">
                  <a:moveTo>
                    <a:pt x="0" y="0"/>
                  </a:moveTo>
                  <a:lnTo>
                    <a:pt x="1263539" y="0"/>
                  </a:lnTo>
                  <a:lnTo>
                    <a:pt x="1263539" y="932362"/>
                  </a:lnTo>
                  <a:lnTo>
                    <a:pt x="0" y="932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3658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9545" y="384840"/>
              <a:ext cx="224807" cy="176474"/>
            </a:xfrm>
            <a:custGeom>
              <a:avLst/>
              <a:gdLst/>
              <a:ahLst/>
              <a:cxnLst/>
              <a:rect r="r" b="b" t="t" l="l"/>
              <a:pathLst>
                <a:path h="176474" w="224807">
                  <a:moveTo>
                    <a:pt x="0" y="0"/>
                  </a:moveTo>
                  <a:lnTo>
                    <a:pt x="224807" y="0"/>
                  </a:lnTo>
                  <a:lnTo>
                    <a:pt x="224807" y="176474"/>
                  </a:lnTo>
                  <a:lnTo>
                    <a:pt x="0" y="176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17025" y="384840"/>
              <a:ext cx="224807" cy="176474"/>
            </a:xfrm>
            <a:custGeom>
              <a:avLst/>
              <a:gdLst/>
              <a:ahLst/>
              <a:cxnLst/>
              <a:rect r="r" b="b" t="t" l="l"/>
              <a:pathLst>
                <a:path h="176474" w="224807">
                  <a:moveTo>
                    <a:pt x="0" y="0"/>
                  </a:moveTo>
                  <a:lnTo>
                    <a:pt x="224807" y="0"/>
                  </a:lnTo>
                  <a:lnTo>
                    <a:pt x="224807" y="176474"/>
                  </a:lnTo>
                  <a:lnTo>
                    <a:pt x="0" y="176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61713" y="4871959"/>
            <a:ext cx="9038324" cy="2212392"/>
            <a:chOff x="0" y="0"/>
            <a:chExt cx="13599780" cy="33289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99719" cy="3328895"/>
            </a:xfrm>
            <a:custGeom>
              <a:avLst/>
              <a:gdLst/>
              <a:ahLst/>
              <a:cxnLst/>
              <a:rect r="r" b="b" t="t" l="l"/>
              <a:pathLst>
                <a:path h="3328895" w="13599719">
                  <a:moveTo>
                    <a:pt x="0" y="199729"/>
                  </a:moveTo>
                  <a:cubicBezTo>
                    <a:pt x="0" y="89438"/>
                    <a:pt x="118193" y="0"/>
                    <a:pt x="263944" y="0"/>
                  </a:cubicBezTo>
                  <a:lnTo>
                    <a:pt x="13335774" y="0"/>
                  </a:lnTo>
                  <a:cubicBezTo>
                    <a:pt x="13481526" y="0"/>
                    <a:pt x="13599719" y="89438"/>
                    <a:pt x="13599719" y="199729"/>
                  </a:cubicBezTo>
                  <a:lnTo>
                    <a:pt x="13599719" y="3129166"/>
                  </a:lnTo>
                  <a:cubicBezTo>
                    <a:pt x="13599719" y="3239457"/>
                    <a:pt x="13481526" y="3328895"/>
                    <a:pt x="13335774" y="3328895"/>
                  </a:cubicBezTo>
                  <a:lnTo>
                    <a:pt x="263944" y="3328895"/>
                  </a:lnTo>
                  <a:cubicBezTo>
                    <a:pt x="118193" y="3328895"/>
                    <a:pt x="0" y="3239573"/>
                    <a:pt x="0" y="3129166"/>
                  </a:cubicBezTo>
                  <a:close/>
                </a:path>
              </a:pathLst>
            </a:custGeom>
            <a:solidFill>
              <a:srgbClr val="FFF6EA"/>
            </a:solidFill>
            <a:ln w="19065" cap="sq">
              <a:solidFill>
                <a:srgbClr val="E6EBF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98563" y="1680887"/>
            <a:ext cx="5546340" cy="8325856"/>
            <a:chOff x="0" y="0"/>
            <a:chExt cx="8345464" cy="125277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45426" cy="12527570"/>
            </a:xfrm>
            <a:custGeom>
              <a:avLst/>
              <a:gdLst/>
              <a:ahLst/>
              <a:cxnLst/>
              <a:rect r="r" b="b" t="t" l="l"/>
              <a:pathLst>
                <a:path h="12527570" w="8345426">
                  <a:moveTo>
                    <a:pt x="0" y="751637"/>
                  </a:moveTo>
                  <a:cubicBezTo>
                    <a:pt x="0" y="336580"/>
                    <a:pt x="72529" y="0"/>
                    <a:pt x="161969" y="0"/>
                  </a:cubicBezTo>
                  <a:lnTo>
                    <a:pt x="8183458" y="0"/>
                  </a:lnTo>
                  <a:cubicBezTo>
                    <a:pt x="8272898" y="0"/>
                    <a:pt x="8345426" y="336580"/>
                    <a:pt x="8345426" y="751637"/>
                  </a:cubicBezTo>
                  <a:lnTo>
                    <a:pt x="8345426" y="11775933"/>
                  </a:lnTo>
                  <a:cubicBezTo>
                    <a:pt x="8345426" y="12190990"/>
                    <a:pt x="8272898" y="12527570"/>
                    <a:pt x="8183458" y="12527570"/>
                  </a:cubicBezTo>
                  <a:lnTo>
                    <a:pt x="161969" y="12527570"/>
                  </a:lnTo>
                  <a:cubicBezTo>
                    <a:pt x="72529" y="12527570"/>
                    <a:pt x="0" y="12191426"/>
                    <a:pt x="0" y="11775933"/>
                  </a:cubicBezTo>
                  <a:close/>
                </a:path>
              </a:pathLst>
            </a:custGeom>
            <a:solidFill>
              <a:srgbClr val="C9D3E0"/>
            </a:solidFill>
            <a:ln w="19065" cap="sq">
              <a:solidFill>
                <a:srgbClr val="D8D355"/>
              </a:solidFill>
              <a:prstDash val="solid"/>
              <a:miter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6199373" y="4340036"/>
            <a:ext cx="316285" cy="313122"/>
          </a:xfrm>
          <a:custGeom>
            <a:avLst/>
            <a:gdLst/>
            <a:ahLst/>
            <a:cxnLst/>
            <a:rect r="r" b="b" t="t" l="l"/>
            <a:pathLst>
              <a:path h="313122" w="316285">
                <a:moveTo>
                  <a:pt x="0" y="0"/>
                </a:moveTo>
                <a:lnTo>
                  <a:pt x="316285" y="0"/>
                </a:lnTo>
                <a:lnTo>
                  <a:pt x="316285" y="313123"/>
                </a:lnTo>
                <a:lnTo>
                  <a:pt x="0" y="313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13111203" y="1991656"/>
            <a:ext cx="0" cy="6452558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2749406" y="1799919"/>
            <a:ext cx="708415" cy="708415"/>
          </a:xfrm>
          <a:custGeom>
            <a:avLst/>
            <a:gdLst/>
            <a:ahLst/>
            <a:cxnLst/>
            <a:rect r="r" b="b" t="t" l="l"/>
            <a:pathLst>
              <a:path h="708415" w="708415">
                <a:moveTo>
                  <a:pt x="0" y="0"/>
                </a:moveTo>
                <a:lnTo>
                  <a:pt x="708415" y="0"/>
                </a:lnTo>
                <a:lnTo>
                  <a:pt x="708415" y="708414"/>
                </a:lnTo>
                <a:lnTo>
                  <a:pt x="0" y="708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49406" y="3049435"/>
            <a:ext cx="708415" cy="708415"/>
          </a:xfrm>
          <a:custGeom>
            <a:avLst/>
            <a:gdLst/>
            <a:ahLst/>
            <a:cxnLst/>
            <a:rect r="r" b="b" t="t" l="l"/>
            <a:pathLst>
              <a:path h="708415" w="708415">
                <a:moveTo>
                  <a:pt x="0" y="0"/>
                </a:moveTo>
                <a:lnTo>
                  <a:pt x="708415" y="0"/>
                </a:lnTo>
                <a:lnTo>
                  <a:pt x="708415" y="708415"/>
                </a:lnTo>
                <a:lnTo>
                  <a:pt x="0" y="708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749406" y="4298951"/>
            <a:ext cx="708415" cy="708415"/>
          </a:xfrm>
          <a:custGeom>
            <a:avLst/>
            <a:gdLst/>
            <a:ahLst/>
            <a:cxnLst/>
            <a:rect r="r" b="b" t="t" l="l"/>
            <a:pathLst>
              <a:path h="708415" w="708415">
                <a:moveTo>
                  <a:pt x="0" y="0"/>
                </a:moveTo>
                <a:lnTo>
                  <a:pt x="708415" y="0"/>
                </a:lnTo>
                <a:lnTo>
                  <a:pt x="708415" y="708415"/>
                </a:lnTo>
                <a:lnTo>
                  <a:pt x="0" y="708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749406" y="5548467"/>
            <a:ext cx="708415" cy="708415"/>
          </a:xfrm>
          <a:custGeom>
            <a:avLst/>
            <a:gdLst/>
            <a:ahLst/>
            <a:cxnLst/>
            <a:rect r="r" b="b" t="t" l="l"/>
            <a:pathLst>
              <a:path h="708415" w="708415">
                <a:moveTo>
                  <a:pt x="0" y="0"/>
                </a:moveTo>
                <a:lnTo>
                  <a:pt x="708415" y="0"/>
                </a:lnTo>
                <a:lnTo>
                  <a:pt x="708415" y="708415"/>
                </a:lnTo>
                <a:lnTo>
                  <a:pt x="0" y="708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49406" y="6797984"/>
            <a:ext cx="708415" cy="708415"/>
          </a:xfrm>
          <a:custGeom>
            <a:avLst/>
            <a:gdLst/>
            <a:ahLst/>
            <a:cxnLst/>
            <a:rect r="r" b="b" t="t" l="l"/>
            <a:pathLst>
              <a:path h="708415" w="708415">
                <a:moveTo>
                  <a:pt x="0" y="0"/>
                </a:moveTo>
                <a:lnTo>
                  <a:pt x="708415" y="0"/>
                </a:lnTo>
                <a:lnTo>
                  <a:pt x="708415" y="708414"/>
                </a:lnTo>
                <a:lnTo>
                  <a:pt x="0" y="708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749406" y="8043475"/>
            <a:ext cx="708415" cy="708415"/>
          </a:xfrm>
          <a:custGeom>
            <a:avLst/>
            <a:gdLst/>
            <a:ahLst/>
            <a:cxnLst/>
            <a:rect r="r" b="b" t="t" l="l"/>
            <a:pathLst>
              <a:path h="708415" w="708415">
                <a:moveTo>
                  <a:pt x="0" y="0"/>
                </a:moveTo>
                <a:lnTo>
                  <a:pt x="708415" y="0"/>
                </a:lnTo>
                <a:lnTo>
                  <a:pt x="708415" y="708414"/>
                </a:lnTo>
                <a:lnTo>
                  <a:pt x="0" y="708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659055" y="4340036"/>
            <a:ext cx="393865" cy="313122"/>
          </a:xfrm>
          <a:custGeom>
            <a:avLst/>
            <a:gdLst/>
            <a:ahLst/>
            <a:cxnLst/>
            <a:rect r="r" b="b" t="t" l="l"/>
            <a:pathLst>
              <a:path h="313122" w="393865">
                <a:moveTo>
                  <a:pt x="0" y="0"/>
                </a:moveTo>
                <a:lnTo>
                  <a:pt x="393865" y="0"/>
                </a:lnTo>
                <a:lnTo>
                  <a:pt x="393865" y="313123"/>
                </a:lnTo>
                <a:lnTo>
                  <a:pt x="0" y="3131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339187" y="1834452"/>
            <a:ext cx="648566" cy="1046074"/>
          </a:xfrm>
          <a:custGeom>
            <a:avLst/>
            <a:gdLst/>
            <a:ahLst/>
            <a:cxnLst/>
            <a:rect r="r" b="b" t="t" l="l"/>
            <a:pathLst>
              <a:path h="1046074" w="648566">
                <a:moveTo>
                  <a:pt x="0" y="0"/>
                </a:moveTo>
                <a:lnTo>
                  <a:pt x="648566" y="0"/>
                </a:lnTo>
                <a:lnTo>
                  <a:pt x="648566" y="1046075"/>
                </a:lnTo>
                <a:lnTo>
                  <a:pt x="0" y="1046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536810" y="4198955"/>
            <a:ext cx="4186582" cy="110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8"/>
              </a:lnSpc>
              <a:spcBef>
                <a:spcPct val="0"/>
              </a:spcBef>
            </a:pP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</a:t>
            </a: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words trav</a:t>
            </a: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</a:t>
            </a:r>
          </a:p>
          <a:p>
            <a:pPr algn="l">
              <a:lnSpc>
                <a:spcPts val="2290"/>
              </a:lnSpc>
              <a:spcBef>
                <a:spcPct val="0"/>
              </a:spcBef>
            </a:pPr>
            <a:r>
              <a:rPr lang="en-US" sz="158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Bluetooth, Wi-Fi Direct, or a cable into a radio.</a:t>
            </a:r>
          </a:p>
          <a:p>
            <a:pPr algn="l">
              <a:lnSpc>
                <a:spcPts val="2289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7339187" y="5210808"/>
            <a:ext cx="648566" cy="1046074"/>
            <a:chOff x="0" y="0"/>
            <a:chExt cx="864755" cy="13947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4755" cy="1394766"/>
            </a:xfrm>
            <a:custGeom>
              <a:avLst/>
              <a:gdLst/>
              <a:ahLst/>
              <a:cxnLst/>
              <a:rect r="r" b="b" t="t" l="l"/>
              <a:pathLst>
                <a:path h="1394766" w="864755">
                  <a:moveTo>
                    <a:pt x="0" y="0"/>
                  </a:moveTo>
                  <a:lnTo>
                    <a:pt x="864755" y="0"/>
                  </a:lnTo>
                  <a:lnTo>
                    <a:pt x="864755" y="1394766"/>
                  </a:lnTo>
                  <a:lnTo>
                    <a:pt x="0" y="139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26570" y="203670"/>
              <a:ext cx="411616" cy="98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7"/>
                </a:lnSpc>
              </a:pPr>
              <a:r>
                <a:rPr lang="en-US" sz="339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  <a:p>
              <a:pPr algn="ctr">
                <a:lnSpc>
                  <a:spcPts val="1091"/>
                </a:lnSpc>
              </a:pPr>
              <a:r>
                <a:rPr lang="en-US" sz="77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phone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536810" y="7920498"/>
            <a:ext cx="4291770" cy="8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  <a:spcBef>
                <a:spcPct val="0"/>
              </a:spcBef>
            </a:pP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If it is an emergency</a:t>
            </a:r>
          </a:p>
          <a:p>
            <a:pPr algn="ctr">
              <a:lnSpc>
                <a:spcPts val="2282"/>
              </a:lnSpc>
              <a:spcBef>
                <a:spcPct val="0"/>
              </a:spcBef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Full volume, ignores silent mode, cannot be stopped.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7259300" y="7625381"/>
            <a:ext cx="609263" cy="818834"/>
            <a:chOff x="0" y="0"/>
            <a:chExt cx="812350" cy="10917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350" cy="828929"/>
            </a:xfrm>
            <a:custGeom>
              <a:avLst/>
              <a:gdLst/>
              <a:ahLst/>
              <a:cxnLst/>
              <a:rect r="r" b="b" t="t" l="l"/>
              <a:pathLst>
                <a:path h="828929" w="812350">
                  <a:moveTo>
                    <a:pt x="0" y="0"/>
                  </a:moveTo>
                  <a:lnTo>
                    <a:pt x="812350" y="0"/>
                  </a:lnTo>
                  <a:lnTo>
                    <a:pt x="812350" y="828929"/>
                  </a:lnTo>
                  <a:lnTo>
                    <a:pt x="0" y="828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142207" y="781327"/>
              <a:ext cx="547311" cy="31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6"/>
                </a:lnSpc>
                <a:spcBef>
                  <a:spcPct val="0"/>
                </a:spcBef>
              </a:pPr>
              <a:r>
                <a:rPr lang="en-US" b="true" sz="126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61713" y="7710844"/>
            <a:ext cx="9038324" cy="2195917"/>
            <a:chOff x="0" y="0"/>
            <a:chExt cx="13599780" cy="33041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99719" cy="3304105"/>
            </a:xfrm>
            <a:custGeom>
              <a:avLst/>
              <a:gdLst/>
              <a:ahLst/>
              <a:cxnLst/>
              <a:rect r="r" b="b" t="t" l="l"/>
              <a:pathLst>
                <a:path h="3304105" w="13599719">
                  <a:moveTo>
                    <a:pt x="0" y="198242"/>
                  </a:moveTo>
                  <a:cubicBezTo>
                    <a:pt x="0" y="88772"/>
                    <a:pt x="118193" y="0"/>
                    <a:pt x="263944" y="0"/>
                  </a:cubicBezTo>
                  <a:lnTo>
                    <a:pt x="13335774" y="0"/>
                  </a:lnTo>
                  <a:cubicBezTo>
                    <a:pt x="13481526" y="0"/>
                    <a:pt x="13599719" y="88772"/>
                    <a:pt x="13599719" y="198242"/>
                  </a:cubicBezTo>
                  <a:lnTo>
                    <a:pt x="13599719" y="3105863"/>
                  </a:lnTo>
                  <a:cubicBezTo>
                    <a:pt x="13599719" y="3215333"/>
                    <a:pt x="13481526" y="3304105"/>
                    <a:pt x="13335774" y="3304105"/>
                  </a:cubicBezTo>
                  <a:lnTo>
                    <a:pt x="263944" y="3304105"/>
                  </a:lnTo>
                  <a:cubicBezTo>
                    <a:pt x="118193" y="3304105"/>
                    <a:pt x="0" y="3215448"/>
                    <a:pt x="0" y="3105863"/>
                  </a:cubicBezTo>
                  <a:close/>
                </a:path>
              </a:pathLst>
            </a:custGeom>
            <a:solidFill>
              <a:srgbClr val="F0EFEC"/>
            </a:solidFill>
            <a:ln w="19065" cap="sq">
              <a:solidFill>
                <a:srgbClr val="D8D35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941442" y="9037639"/>
            <a:ext cx="4781951" cy="752202"/>
            <a:chOff x="0" y="0"/>
            <a:chExt cx="21005372" cy="3304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05276" cy="3304105"/>
            </a:xfrm>
            <a:custGeom>
              <a:avLst/>
              <a:gdLst/>
              <a:ahLst/>
              <a:cxnLst/>
              <a:rect r="r" b="b" t="t" l="l"/>
              <a:pathLst>
                <a:path h="3304105" w="21005276">
                  <a:moveTo>
                    <a:pt x="0" y="198242"/>
                  </a:moveTo>
                  <a:cubicBezTo>
                    <a:pt x="0" y="88772"/>
                    <a:pt x="182554" y="0"/>
                    <a:pt x="407672" y="0"/>
                  </a:cubicBezTo>
                  <a:lnTo>
                    <a:pt x="20597605" y="0"/>
                  </a:lnTo>
                  <a:cubicBezTo>
                    <a:pt x="20822724" y="0"/>
                    <a:pt x="21005276" y="88772"/>
                    <a:pt x="21005276" y="198242"/>
                  </a:cubicBezTo>
                  <a:lnTo>
                    <a:pt x="21005276" y="3105863"/>
                  </a:lnTo>
                  <a:cubicBezTo>
                    <a:pt x="21005276" y="3215333"/>
                    <a:pt x="20822724" y="3304105"/>
                    <a:pt x="20597605" y="3304105"/>
                  </a:cubicBezTo>
                  <a:lnTo>
                    <a:pt x="407672" y="3304105"/>
                  </a:lnTo>
                  <a:cubicBezTo>
                    <a:pt x="182554" y="3304105"/>
                    <a:pt x="0" y="3215448"/>
                    <a:pt x="0" y="3105863"/>
                  </a:cubicBezTo>
                  <a:close/>
                </a:path>
              </a:pathLst>
            </a:custGeom>
            <a:solidFill>
              <a:srgbClr val="FF7A7A"/>
            </a:solidFill>
            <a:ln w="1906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-5400000">
            <a:off x="10526144" y="3042054"/>
            <a:ext cx="3285961" cy="56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IT WORK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5841" y="1890844"/>
            <a:ext cx="8907128" cy="221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412" indent="-222706" lvl="1">
              <a:lnSpc>
                <a:spcPts val="2475"/>
              </a:lnSpc>
              <a:buFont typeface="Arial"/>
              <a:buChar char="•"/>
            </a:pPr>
            <a:r>
              <a:rPr lang="en-US" sz="20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push-t</a:t>
            </a:r>
            <a:r>
              <a:rPr lang="en-US" sz="20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o-talk app for two phones with no internet connection between them. </a:t>
            </a:r>
          </a:p>
          <a:p>
            <a:pPr algn="l" marL="445412" indent="-222706" lvl="1">
              <a:lnSpc>
                <a:spcPts val="2475"/>
              </a:lnSpc>
              <a:buFont typeface="Arial"/>
              <a:buChar char="•"/>
            </a:pPr>
            <a:r>
              <a:rPr lang="en-US" sz="20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phone listens to speech and turns it into text, sends that text over Wi-Fi or Bluetooth, the other phone reads it aloud.</a:t>
            </a:r>
          </a:p>
          <a:p>
            <a:pPr algn="l" marL="445412" indent="-222706" lvl="1">
              <a:lnSpc>
                <a:spcPts val="2475"/>
              </a:lnSpc>
              <a:buFont typeface="Arial"/>
              <a:buChar char="•"/>
            </a:pPr>
            <a:r>
              <a:rPr lang="en-US" sz="20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 supports 10 Indian languages, so the message stays in the speaker's own language from one end to the other.</a:t>
            </a:r>
          </a:p>
          <a:p>
            <a:pPr algn="l" marL="445412" indent="-222706" lvl="1">
              <a:lnSpc>
                <a:spcPts val="2475"/>
              </a:lnSpc>
              <a:buFont typeface="Arial"/>
              <a:buChar char="•"/>
            </a:pPr>
            <a:r>
              <a:rPr lang="en-US" sz="20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Emergency alerts play at full volume and cannot be silenced.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3887" y="1413578"/>
            <a:ext cx="288412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  <a:spcBef>
                <a:spcPct val="0"/>
              </a:spcBef>
            </a:pPr>
            <a:r>
              <a:rPr lang="en-US" b="true" sz="29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5841" y="4953365"/>
            <a:ext cx="8907128" cy="197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901" indent="-237950" lvl="1">
              <a:lnSpc>
                <a:spcPts val="264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Bhashini, G</a:t>
            </a: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oogle, Zello — need the internet</a:t>
            </a:r>
          </a:p>
          <a:p>
            <a:pPr algn="l" marL="475901" indent="-237950" lvl="1">
              <a:lnSpc>
                <a:spcPts val="264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Bridgefy, Briar, Meshtastic — work offline, but only send text you must read</a:t>
            </a:r>
          </a:p>
          <a:p>
            <a:pPr algn="l" marL="475901" indent="-237950" lvl="1">
              <a:lnSpc>
                <a:spcPts val="264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FreeDV, Codec2 radios — send voice, but stop at 700 bps and speak no Indian language</a:t>
            </a:r>
          </a:p>
          <a:p>
            <a:pPr algn="l" marL="475901" indent="-237950" lvl="1">
              <a:lnSpc>
                <a:spcPts val="264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Ours is voice in and voice out, offline, in 10 Indian languages.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75612" y="4472928"/>
            <a:ext cx="45739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  <a:spcBef>
                <a:spcPct val="0"/>
              </a:spcBef>
            </a:pPr>
            <a:r>
              <a:rPr lang="en-US" b="true" sz="29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IT IS DIFFERENT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71850" y="1758252"/>
            <a:ext cx="263543" cy="67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9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71850" y="3018209"/>
            <a:ext cx="278705" cy="67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9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71850" y="4278166"/>
            <a:ext cx="295485" cy="67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9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71850" y="5538123"/>
            <a:ext cx="311158" cy="67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9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71850" y="6798080"/>
            <a:ext cx="300851" cy="67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9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41442" y="8027240"/>
            <a:ext cx="324361" cy="67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9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536810" y="1770003"/>
            <a:ext cx="3932148" cy="81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  <a:spcBef>
                <a:spcPct val="0"/>
              </a:spcBef>
            </a:pPr>
            <a:r>
              <a:rPr lang="en-US" b="true" sz="26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Hold the button and </a:t>
            </a:r>
            <a:r>
              <a:rPr lang="en-US" b="true" sz="26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Speak</a:t>
            </a:r>
          </a:p>
          <a:p>
            <a:pPr algn="l">
              <a:lnSpc>
                <a:spcPts val="2282"/>
              </a:lnSpc>
              <a:spcBef>
                <a:spcPct val="0"/>
              </a:spcBef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ush-to-talk, in any of 10 Indian languages.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536810" y="2935135"/>
            <a:ext cx="4186582" cy="102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8"/>
              </a:lnSpc>
              <a:spcBef>
                <a:spcPct val="0"/>
              </a:spcBef>
            </a:pP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</a:t>
            </a: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phone writes it down</a:t>
            </a:r>
          </a:p>
          <a:p>
            <a:pPr algn="l">
              <a:lnSpc>
                <a:spcPts val="2290"/>
              </a:lnSpc>
              <a:spcBef>
                <a:spcPct val="0"/>
              </a:spcBef>
            </a:pPr>
            <a:r>
              <a:rPr lang="en-US" sz="158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Speech becomes text the moment you release.</a:t>
            </a:r>
          </a:p>
          <a:p>
            <a:pPr algn="l">
              <a:lnSpc>
                <a:spcPts val="1643"/>
              </a:lnSpc>
              <a:spcBef>
                <a:spcPct val="0"/>
              </a:spcBef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17509114" y="1970536"/>
            <a:ext cx="308712" cy="75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sz="33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  <a:p>
            <a:pPr algn="ctr">
              <a:lnSpc>
                <a:spcPts val="1091"/>
              </a:lnSpc>
            </a:pPr>
            <a:r>
              <a:rPr lang="en-US" sz="77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phone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6810" y="5431171"/>
            <a:ext cx="3588111" cy="8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  <a:spcBef>
                <a:spcPct val="0"/>
              </a:spcBef>
            </a:pP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ther phone</a:t>
            </a:r>
          </a:p>
          <a:p>
            <a:pPr algn="ctr">
              <a:lnSpc>
                <a:spcPts val="2282"/>
              </a:lnSpc>
              <a:spcBef>
                <a:spcPct val="0"/>
              </a:spcBef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Checked, repeats dropped, sentence rebuilt.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530327" y="6644733"/>
            <a:ext cx="3449804" cy="110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  <a:spcBef>
                <a:spcPct val="0"/>
              </a:spcBef>
            </a:pPr>
            <a:r>
              <a:rPr lang="en-US" b="true" sz="267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speaks out loud</a:t>
            </a:r>
          </a:p>
          <a:p>
            <a:pPr algn="ctr">
              <a:lnSpc>
                <a:spcPts val="2282"/>
              </a:lnSpc>
              <a:spcBef>
                <a:spcPct val="0"/>
              </a:spcBef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natural voice, in the language you used.</a:t>
            </a:r>
          </a:p>
          <a:p>
            <a:pPr algn="ctr">
              <a:lnSpc>
                <a:spcPts val="2282"/>
              </a:lnSpc>
              <a:spcBef>
                <a:spcPct val="0"/>
              </a:spcBef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561713" y="7811313"/>
            <a:ext cx="8901256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9640" indent="-214820" lvl="1">
              <a:lnSpc>
                <a:spcPts val="2387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Sending y</a:t>
            </a:r>
            <a:r>
              <a:rPr lang="en-US" sz="19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actual voice needs roughly 8,000 to 16,000 bits every second. </a:t>
            </a:r>
          </a:p>
          <a:p>
            <a:pPr algn="l" marL="429640" indent="-214820" lvl="1">
              <a:lnSpc>
                <a:spcPts val="2387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Emergency and satellite links often carry only a few hundred bits per seconds, raw Voice simply doesn't fit.</a:t>
            </a:r>
          </a:p>
          <a:p>
            <a:pPr algn="l" marL="429640" indent="-214820" lvl="1">
              <a:lnSpc>
                <a:spcPts val="2387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spoken sentence written down is about 118 bytes. </a:t>
            </a:r>
          </a:p>
          <a:p>
            <a:pPr algn="l" marL="429640" indent="-214820" lvl="1">
              <a:lnSpc>
                <a:spcPts val="2387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squeeze it to 44 and wrap it up to about 100 bytes. That fits almost any link.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04394" y="7301665"/>
            <a:ext cx="422420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  <a:spcBef>
                <a:spcPct val="0"/>
              </a:spcBef>
            </a:pPr>
            <a:r>
              <a:rPr lang="en-US" b="true" sz="29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IT IS DIFFERENT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008432" y="9227146"/>
            <a:ext cx="746377" cy="373188"/>
            <a:chOff x="0" y="0"/>
            <a:chExt cx="995169" cy="4975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462220" y="81279"/>
              <a:ext cx="70729" cy="104013"/>
            </a:xfrm>
            <a:custGeom>
              <a:avLst/>
              <a:gdLst/>
              <a:ahLst/>
              <a:cxnLst/>
              <a:rect r="r" b="b" t="t" l="l"/>
              <a:pathLst>
                <a:path h="104013" w="70729">
                  <a:moveTo>
                    <a:pt x="0" y="0"/>
                  </a:moveTo>
                  <a:lnTo>
                    <a:pt x="70729" y="0"/>
                  </a:lnTo>
                  <a:lnTo>
                    <a:pt x="70729" y="104013"/>
                  </a:lnTo>
                  <a:lnTo>
                    <a:pt x="0" y="104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439812" y="321082"/>
              <a:ext cx="115545" cy="49684"/>
            </a:xfrm>
            <a:custGeom>
              <a:avLst/>
              <a:gdLst/>
              <a:ahLst/>
              <a:cxnLst/>
              <a:rect r="r" b="b" t="t" l="l"/>
              <a:pathLst>
                <a:path h="49684" w="115545">
                  <a:moveTo>
                    <a:pt x="0" y="0"/>
                  </a:moveTo>
                  <a:lnTo>
                    <a:pt x="115545" y="0"/>
                  </a:lnTo>
                  <a:lnTo>
                    <a:pt x="115545" y="49684"/>
                  </a:lnTo>
                  <a:lnTo>
                    <a:pt x="0" y="49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497584" y="0"/>
              <a:ext cx="497584" cy="497584"/>
            </a:xfrm>
            <a:custGeom>
              <a:avLst/>
              <a:gdLst/>
              <a:ahLst/>
              <a:cxnLst/>
              <a:rect r="r" b="b" t="t" l="l"/>
              <a:pathLst>
                <a:path h="497584" w="497584">
                  <a:moveTo>
                    <a:pt x="0" y="0"/>
                  </a:moveTo>
                  <a:lnTo>
                    <a:pt x="497585" y="0"/>
                  </a:lnTo>
                  <a:lnTo>
                    <a:pt x="497585" y="497584"/>
                  </a:lnTo>
                  <a:lnTo>
                    <a:pt x="0" y="49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true" flipV="false" rot="0">
              <a:off x="0" y="0"/>
              <a:ext cx="497584" cy="497584"/>
            </a:xfrm>
            <a:custGeom>
              <a:avLst/>
              <a:gdLst/>
              <a:ahLst/>
              <a:cxnLst/>
              <a:rect r="r" b="b" t="t" l="l"/>
              <a:pathLst>
                <a:path h="497584" w="497584">
                  <a:moveTo>
                    <a:pt x="497584" y="0"/>
                  </a:moveTo>
                  <a:lnTo>
                    <a:pt x="0" y="0"/>
                  </a:lnTo>
                  <a:lnTo>
                    <a:pt x="0" y="497584"/>
                  </a:lnTo>
                  <a:lnTo>
                    <a:pt x="497584" y="497584"/>
                  </a:lnTo>
                  <a:lnTo>
                    <a:pt x="497584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3536810" y="9003437"/>
            <a:ext cx="4126660" cy="74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1"/>
              </a:lnSpc>
              <a:spcBef>
                <a:spcPct val="0"/>
              </a:spcBef>
            </a:pP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Just </a:t>
            </a: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speak and listen — nobody ever has to read.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7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14077" y="2557281"/>
            <a:ext cx="8140351" cy="913859"/>
            <a:chOff x="0" y="0"/>
            <a:chExt cx="1674969" cy="1880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14077" y="1613725"/>
            <a:ext cx="8140351" cy="913859"/>
            <a:chOff x="0" y="0"/>
            <a:chExt cx="1674969" cy="1880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14077" y="6412556"/>
            <a:ext cx="8140351" cy="913859"/>
            <a:chOff x="0" y="0"/>
            <a:chExt cx="1674969" cy="1880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14077" y="3517300"/>
            <a:ext cx="8140351" cy="913859"/>
            <a:chOff x="0" y="0"/>
            <a:chExt cx="1674969" cy="1880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14077" y="4485006"/>
            <a:ext cx="8140351" cy="913859"/>
            <a:chOff x="0" y="0"/>
            <a:chExt cx="1674969" cy="1880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14077" y="5451072"/>
            <a:ext cx="8140351" cy="913859"/>
            <a:chOff x="0" y="0"/>
            <a:chExt cx="1674969" cy="1880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14077" y="7405184"/>
            <a:ext cx="8140351" cy="913859"/>
            <a:chOff x="0" y="0"/>
            <a:chExt cx="1674969" cy="1880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14077" y="8376193"/>
            <a:ext cx="8140351" cy="913859"/>
            <a:chOff x="0" y="0"/>
            <a:chExt cx="1674969" cy="1880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14077" y="9347202"/>
            <a:ext cx="8140351" cy="913859"/>
            <a:chOff x="0" y="0"/>
            <a:chExt cx="1674969" cy="1880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4969" cy="188037"/>
            </a:xfrm>
            <a:custGeom>
              <a:avLst/>
              <a:gdLst/>
              <a:ahLst/>
              <a:cxnLst/>
              <a:rect r="r" b="b" t="t" l="l"/>
              <a:pathLst>
                <a:path h="188037" w="1674969">
                  <a:moveTo>
                    <a:pt x="18575" y="0"/>
                  </a:moveTo>
                  <a:lnTo>
                    <a:pt x="1656394" y="0"/>
                  </a:lnTo>
                  <a:cubicBezTo>
                    <a:pt x="1666653" y="0"/>
                    <a:pt x="1674969" y="8316"/>
                    <a:pt x="1674969" y="18575"/>
                  </a:cubicBezTo>
                  <a:lnTo>
                    <a:pt x="1674969" y="169462"/>
                  </a:lnTo>
                  <a:cubicBezTo>
                    <a:pt x="1674969" y="179720"/>
                    <a:pt x="1666653" y="188037"/>
                    <a:pt x="1656394" y="188037"/>
                  </a:cubicBezTo>
                  <a:lnTo>
                    <a:pt x="18575" y="188037"/>
                  </a:lnTo>
                  <a:cubicBezTo>
                    <a:pt x="8316" y="188037"/>
                    <a:pt x="0" y="179720"/>
                    <a:pt x="0" y="169462"/>
                  </a:cubicBezTo>
                  <a:lnTo>
                    <a:pt x="0" y="18575"/>
                  </a:lnTo>
                  <a:cubicBezTo>
                    <a:pt x="0" y="8316"/>
                    <a:pt x="8316" y="0"/>
                    <a:pt x="18575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674969" cy="24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-5400000">
            <a:off x="7395075" y="5110750"/>
            <a:ext cx="4268192" cy="62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Tecnologies to be Used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83209" y="1680513"/>
            <a:ext cx="5377557" cy="72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b="true" sz="19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APP</a:t>
            </a:r>
          </a:p>
          <a:p>
            <a:pPr algn="just">
              <a:lnSpc>
                <a:spcPts val="2876"/>
              </a:lnSpc>
              <a:spcBef>
                <a:spcPct val="0"/>
              </a:spcBef>
            </a:pPr>
            <a:r>
              <a:rPr lang="en-US" sz="19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Kotlin • Jetpack Compose • MVVM • Coroutines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83209" y="2588271"/>
            <a:ext cx="8140351" cy="75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1"/>
              </a:lnSpc>
              <a:spcBef>
                <a:spcPct val="0"/>
              </a:spcBef>
            </a:pPr>
            <a:r>
              <a:rPr lang="en-US" b="true" sz="19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</a:t>
            </a:r>
            <a:r>
              <a:rPr lang="en-US" b="true" sz="19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CALIZATION</a:t>
            </a:r>
          </a:p>
          <a:p>
            <a:pPr algn="just">
              <a:lnSpc>
                <a:spcPts val="2862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UI str</a:t>
            </a: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ings per locale (10 languages) • native-script language picker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83209" y="3447868"/>
            <a:ext cx="7648745" cy="99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b="true" sz="178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SPEECH IN (VAD + STT) 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sz="17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Tiered</a:t>
            </a:r>
            <a:r>
              <a:rPr lang="en-US" sz="17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VAD: energy/WebRTC gate → Silero-VAD • IndicConformer INT8 (sherpa-onnx) • Whisper.cpp fallback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83209" y="4572086"/>
            <a:ext cx="8065832" cy="66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b="true" sz="17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SPEECH</a:t>
            </a:r>
            <a:r>
              <a:rPr lang="en-US" b="true" sz="17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OUT (TTS) </a:t>
            </a:r>
          </a:p>
          <a:p>
            <a:pPr algn="l">
              <a:lnSpc>
                <a:spcPts val="2542"/>
              </a:lnSpc>
              <a:spcBef>
                <a:spcPct val="0"/>
              </a:spcBef>
            </a:pPr>
            <a:r>
              <a:rPr lang="en-US" sz="17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Indic-TTS</a:t>
            </a:r>
            <a:r>
              <a:rPr lang="en-US" sz="17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INT8 (FastPitch + HiFi-GAN) • pre-rendered alert bank • espeak-ng fallback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83209" y="5484590"/>
            <a:ext cx="8140351" cy="75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  <a:spcBef>
                <a:spcPct val="0"/>
              </a:spcBef>
            </a:pPr>
            <a:r>
              <a:rPr lang="en-US" b="true" sz="19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ML RUNTIME</a:t>
            </a:r>
          </a:p>
          <a:p>
            <a:pPr algn="l">
              <a:lnSpc>
                <a:spcPts val="2862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Wi-Fi Direct / local Wi-Fi • Bluetooth (BLE + RFCCOMM)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83209" y="6355951"/>
            <a:ext cx="7631236" cy="99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</a:t>
            </a:r>
            <a:r>
              <a:rPr lang="en-US" b="true" sz="176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</a:p>
          <a:p>
            <a:pPr algn="l">
              <a:lnSpc>
                <a:spcPts val="2562"/>
              </a:lnSpc>
              <a:spcBef>
                <a:spcPct val="0"/>
              </a:spcBef>
            </a:pPr>
            <a:r>
              <a:rPr lang="en-US" sz="17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BLE</a:t>
            </a:r>
            <a:r>
              <a:rPr lang="en-US" sz="17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(default) • RFCOMM (embedded/gateway peers) • Wi-Fi Direct (opportunistic fast path)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83209" y="7462334"/>
            <a:ext cx="8140351" cy="75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  <a:spcBef>
                <a:spcPct val="0"/>
              </a:spcBef>
            </a:pPr>
            <a:r>
              <a:rPr lang="en-US" b="true" sz="19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TRANSPORT</a:t>
            </a:r>
          </a:p>
          <a:p>
            <a:pPr algn="l">
              <a:lnSpc>
                <a:spcPts val="2862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UD</a:t>
            </a: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 for chat • TCP for guaranteed alerts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083209" y="8423818"/>
            <a:ext cx="7779395" cy="72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  <a:spcBef>
                <a:spcPct val="0"/>
              </a:spcBef>
            </a:pPr>
            <a:r>
              <a:rPr lang="en-US" b="true" sz="189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189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ATA SECURITY </a:t>
            </a:r>
          </a:p>
          <a:p>
            <a:pPr algn="l">
              <a:lnSpc>
                <a:spcPts val="2750"/>
              </a:lnSpc>
              <a:spcBef>
                <a:spcPct val="0"/>
              </a:spcBef>
            </a:pPr>
            <a:r>
              <a:rPr lang="en-US" sz="189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</a:t>
            </a:r>
            <a:r>
              <a:rPr lang="en-US" sz="189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otobuf frames + AES-GCM • Ed25519 signing (alert path only) • Room/SQLite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083209" y="9344721"/>
            <a:ext cx="7915438" cy="77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  <a:spcBef>
                <a:spcPct val="0"/>
              </a:spcBef>
            </a:pPr>
            <a:r>
              <a:rPr lang="en-US" b="true" sz="205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AUDIO TUNING</a:t>
            </a:r>
          </a:p>
          <a:p>
            <a:pPr algn="l">
              <a:lnSpc>
                <a:spcPts val="2980"/>
              </a:lnSpc>
              <a:spcBef>
                <a:spcPct val="0"/>
              </a:spcBef>
            </a:pPr>
            <a:r>
              <a:rPr lang="en-US" sz="20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Audi</a:t>
            </a:r>
            <a:r>
              <a:rPr lang="en-US" sz="20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oRecord/AudioTrack • INT8/FP16 • AEC (full-duplex) • latency logger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2420074" y="1273854"/>
            <a:ext cx="6520135" cy="8866383"/>
          </a:xfrm>
          <a:custGeom>
            <a:avLst/>
            <a:gdLst/>
            <a:ahLst/>
            <a:cxnLst/>
            <a:rect r="r" b="b" t="t" l="l"/>
            <a:pathLst>
              <a:path h="8866383" w="6520135">
                <a:moveTo>
                  <a:pt x="0" y="0"/>
                </a:moveTo>
                <a:lnTo>
                  <a:pt x="6520135" y="0"/>
                </a:lnTo>
                <a:lnTo>
                  <a:pt x="6520135" y="8866383"/>
                </a:lnTo>
                <a:lnTo>
                  <a:pt x="0" y="8866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2874468" y="1372609"/>
            <a:ext cx="710471" cy="23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b="true" sz="619" spc="7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«device» SENDER PHONE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02462" y="3545021"/>
            <a:ext cx="950103" cy="58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Tiered VAD energy/WebRTC gate → Silero-VAD (ONNX), continuous, low CPU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55825" y="5915640"/>
            <a:ext cx="910829" cy="58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Sentence Frame Protobuf {lang, text, priority, time}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ONLY, NO AUDIO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51912" y="1730545"/>
            <a:ext cx="1052803" cy="40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</a:t>
            </a:r>
          </a:p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PTT + Foreground Service (Kotlin / Android SDK, voice in, mic live)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701357" y="2640594"/>
            <a:ext cx="1159383" cy="31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</a:t>
            </a:r>
          </a:p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Audio Capture</a:t>
            </a:r>
          </a:p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(Mic + AudioRecord, 16 kHz)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13698" y="7011070"/>
            <a:ext cx="1051680" cy="2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</a:t>
            </a:r>
          </a:p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Transport Manager (send)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667653" y="4640450"/>
            <a:ext cx="1226594" cy="77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STT: IndicConformer INT8 (sherpa-onnx)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 of 10 languages resident run: NNAPI/XNNPACK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(hi gu mr kn ml ta te or bn en) Whisper.cpp fallback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74626" y="6054441"/>
            <a:ext cx="564106" cy="2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 JSON Decoder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629763" y="3592769"/>
            <a:ext cx="559698" cy="18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</a:t>
            </a:r>
            <a:r>
              <a:rPr lang="en-US" sz="619" spc="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619" spc="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alert» «component»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515647" y="3775870"/>
            <a:ext cx="791698" cy="31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Static Alert Audio (pre-rendered PCM, skips TTS)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515647" y="4867958"/>
            <a:ext cx="810892" cy="31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 Priority Manager (NORMAL vs ALERT)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630796" y="9353595"/>
            <a:ext cx="985817" cy="58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«channel»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Bluetooth Classic Adapter + Socket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(For embedded/gateway peers: ESP32, HC-05)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147559" y="1820425"/>
            <a:ext cx="486889" cy="2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«hardware» Speaker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068921" y="2640594"/>
            <a:ext cx="647613" cy="31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 Audio Playback (AudioManager)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070038" y="1496905"/>
            <a:ext cx="786330" cy="23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b="true" sz="619" spc="7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«device» RECEIVER PHONE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181678" y="7810354"/>
            <a:ext cx="1013248" cy="41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b="true" sz="619" spc="7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«channel»</a:t>
            </a:r>
          </a:p>
          <a:p>
            <a:pPr algn="ctr">
              <a:lnSpc>
                <a:spcPts val="720"/>
              </a:lnSpc>
            </a:pPr>
            <a:r>
              <a:rPr lang="en-US" b="true" sz="619" spc="7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LINK (JSON/Protobuf only — audio never crosses)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596920" y="3545021"/>
            <a:ext cx="908807" cy="58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«model»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TTS: Indic-TTS INT8 (FastPitch + HiFi-GAN) ONNX, lazy-load 1</a:t>
            </a:r>
          </a:p>
          <a:p>
            <a:pPr algn="ctr">
              <a:lnSpc>
                <a:spcPts val="720"/>
              </a:lnSpc>
            </a:pPr>
            <a:r>
              <a:rPr lang="en-US" sz="619" spc="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run: NNAPI/XNNPACK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127727" y="8353667"/>
            <a:ext cx="959857" cy="4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«channel»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BLE: Advertiser + GATT (Discovery / idle pairing — DEFAULT)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908665" y="9353595"/>
            <a:ext cx="1179767" cy="58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«channel»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«component»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Wi-Fi Direct</a:t>
            </a:r>
          </a:p>
          <a:p>
            <a:pPr algn="ctr">
              <a:lnSpc>
                <a:spcPts val="720"/>
              </a:lnSpc>
            </a:pPr>
            <a:r>
              <a:rPr lang="en-US" sz="619" spc="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(WifiP2pManager) Opportunistic fast path — falls back to BLE if setup fails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271482" y="3170763"/>
            <a:ext cx="262346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frames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327653" y="6678939"/>
            <a:ext cx="472412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payload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71482" y="4308325"/>
            <a:ext cx="530060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pause/stop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293950" y="5583515"/>
            <a:ext cx="676768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words + sentence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658041" y="7500818"/>
            <a:ext cx="472412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payload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529691" y="7044086"/>
            <a:ext cx="357134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JSON text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889178" y="5583515"/>
            <a:ext cx="269578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911645" y="4308325"/>
            <a:ext cx="269578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389094" y="2308463"/>
            <a:ext cx="199178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plays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147559" y="3147681"/>
            <a:ext cx="578616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9"/>
              </a:lnSpc>
            </a:pPr>
            <a:r>
              <a:rPr lang="en-US" sz="575" spc="1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PCM, skips TTS [ALERT phrase]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51986" y="4308325"/>
            <a:ext cx="269578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priority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422970" y="8456294"/>
            <a:ext cx="1397734" cy="29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"/>
              </a:lnSpc>
            </a:pPr>
            <a:r>
              <a:rPr lang="en-US" sz="575" spc="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Protobuf + AES-GCM on every frame, plus Ed25519 signing on</a:t>
            </a:r>
          </a:p>
          <a:p>
            <a:pPr algn="ctr">
              <a:lnSpc>
                <a:spcPts val="669"/>
              </a:lnSpc>
            </a:pPr>
            <a:r>
              <a:rPr lang="en-US" sz="575" spc="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 messages only.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950791" y="9021470"/>
            <a:ext cx="313895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discover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844071" y="3147681"/>
            <a:ext cx="455583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"/>
              </a:lnSpc>
            </a:pPr>
            <a:r>
              <a:rPr lang="en-US" sz="575" spc="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PCM speech [NORMAL]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557428" y="9021470"/>
            <a:ext cx="313895" cy="1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"/>
              </a:lnSpc>
            </a:pPr>
            <a:r>
              <a:rPr lang="en-US" sz="575" spc="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discover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843898" y="1830359"/>
            <a:ext cx="1981848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"/>
              </a:lnSpc>
            </a:pPr>
            <a:r>
              <a:rPr lang="en-US" sz="575" spc="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 = AUDIOFOCUS_GAIN_TRANSIENT_EXCLUSIVE + max volume, non-interruptible.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177028" y="1047901"/>
            <a:ext cx="7922683" cy="52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b="true" sz="26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PROTOTYPE—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62143" y="1825381"/>
            <a:ext cx="3592241" cy="517030"/>
            <a:chOff x="0" y="0"/>
            <a:chExt cx="946105" cy="1361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6105" cy="136173"/>
            </a:xfrm>
            <a:custGeom>
              <a:avLst/>
              <a:gdLst/>
              <a:ahLst/>
              <a:cxnLst/>
              <a:rect r="r" b="b" t="t" l="l"/>
              <a:pathLst>
                <a:path h="136173" w="946105">
                  <a:moveTo>
                    <a:pt x="36638" y="0"/>
                  </a:moveTo>
                  <a:lnTo>
                    <a:pt x="909466" y="0"/>
                  </a:lnTo>
                  <a:cubicBezTo>
                    <a:pt x="919184" y="0"/>
                    <a:pt x="928503" y="3860"/>
                    <a:pt x="935374" y="10731"/>
                  </a:cubicBezTo>
                  <a:cubicBezTo>
                    <a:pt x="942245" y="17602"/>
                    <a:pt x="946105" y="26921"/>
                    <a:pt x="946105" y="36638"/>
                  </a:cubicBezTo>
                  <a:lnTo>
                    <a:pt x="946105" y="99535"/>
                  </a:lnTo>
                  <a:cubicBezTo>
                    <a:pt x="946105" y="109252"/>
                    <a:pt x="942245" y="118571"/>
                    <a:pt x="935374" y="125442"/>
                  </a:cubicBezTo>
                  <a:cubicBezTo>
                    <a:pt x="928503" y="132312"/>
                    <a:pt x="919184" y="136173"/>
                    <a:pt x="909466" y="136173"/>
                  </a:cubicBezTo>
                  <a:lnTo>
                    <a:pt x="36638" y="136173"/>
                  </a:lnTo>
                  <a:cubicBezTo>
                    <a:pt x="26921" y="136173"/>
                    <a:pt x="17602" y="132312"/>
                    <a:pt x="10731" y="125442"/>
                  </a:cubicBezTo>
                  <a:cubicBezTo>
                    <a:pt x="3860" y="118571"/>
                    <a:pt x="0" y="109252"/>
                    <a:pt x="0" y="99535"/>
                  </a:cubicBezTo>
                  <a:lnTo>
                    <a:pt x="0" y="36638"/>
                  </a:lnTo>
                  <a:cubicBezTo>
                    <a:pt x="0" y="26921"/>
                    <a:pt x="3860" y="17602"/>
                    <a:pt x="10731" y="10731"/>
                  </a:cubicBezTo>
                  <a:cubicBezTo>
                    <a:pt x="17602" y="3860"/>
                    <a:pt x="26921" y="0"/>
                    <a:pt x="36638" y="0"/>
                  </a:cubicBezTo>
                  <a:close/>
                </a:path>
              </a:pathLst>
            </a:custGeom>
            <a:solidFill>
              <a:srgbClr val="143359">
                <a:alpha val="5764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46105" cy="193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2143" y="1862854"/>
            <a:ext cx="3527677" cy="466709"/>
            <a:chOff x="0" y="0"/>
            <a:chExt cx="4703570" cy="6222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03570" cy="622282"/>
            </a:xfrm>
            <a:custGeom>
              <a:avLst/>
              <a:gdLst/>
              <a:ahLst/>
              <a:cxnLst/>
              <a:rect r="r" b="b" t="t" l="l"/>
              <a:pathLst>
                <a:path h="622282" w="4703570">
                  <a:moveTo>
                    <a:pt x="0" y="0"/>
                  </a:moveTo>
                  <a:lnTo>
                    <a:pt x="4703570" y="0"/>
                  </a:lnTo>
                  <a:lnTo>
                    <a:pt x="4703570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072" r="-17512" b="-1230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703570" cy="64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24108" y="4804353"/>
            <a:ext cx="5243608" cy="411802"/>
            <a:chOff x="0" y="0"/>
            <a:chExt cx="6991477" cy="5490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91478" cy="549066"/>
            </a:xfrm>
            <a:custGeom>
              <a:avLst/>
              <a:gdLst/>
              <a:ahLst/>
              <a:cxnLst/>
              <a:rect r="r" b="b" t="t" l="l"/>
              <a:pathLst>
                <a:path h="549066" w="6991478">
                  <a:moveTo>
                    <a:pt x="0" y="0"/>
                  </a:moveTo>
                  <a:lnTo>
                    <a:pt x="6991478" y="0"/>
                  </a:lnTo>
                  <a:lnTo>
                    <a:pt x="6991478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110" r="0" b="-19811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991477" cy="568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6520" y="5340024"/>
            <a:ext cx="4094058" cy="617368"/>
            <a:chOff x="0" y="0"/>
            <a:chExt cx="1078270" cy="1625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8270" cy="162599"/>
            </a:xfrm>
            <a:custGeom>
              <a:avLst/>
              <a:gdLst/>
              <a:ahLst/>
              <a:cxnLst/>
              <a:rect r="r" b="b" t="t" l="l"/>
              <a:pathLst>
                <a:path h="162599" w="1078270">
                  <a:moveTo>
                    <a:pt x="32147" y="0"/>
                  </a:moveTo>
                  <a:lnTo>
                    <a:pt x="1046123" y="0"/>
                  </a:lnTo>
                  <a:cubicBezTo>
                    <a:pt x="1063878" y="0"/>
                    <a:pt x="1078270" y="14393"/>
                    <a:pt x="1078270" y="32147"/>
                  </a:cubicBezTo>
                  <a:lnTo>
                    <a:pt x="1078270" y="130452"/>
                  </a:lnTo>
                  <a:cubicBezTo>
                    <a:pt x="1078270" y="138978"/>
                    <a:pt x="1074884" y="147154"/>
                    <a:pt x="1068855" y="153183"/>
                  </a:cubicBezTo>
                  <a:cubicBezTo>
                    <a:pt x="1062826" y="159212"/>
                    <a:pt x="1054649" y="162599"/>
                    <a:pt x="1046123" y="162599"/>
                  </a:cubicBezTo>
                  <a:lnTo>
                    <a:pt x="32147" y="162599"/>
                  </a:lnTo>
                  <a:cubicBezTo>
                    <a:pt x="23621" y="162599"/>
                    <a:pt x="15444" y="159212"/>
                    <a:pt x="9416" y="153183"/>
                  </a:cubicBezTo>
                  <a:cubicBezTo>
                    <a:pt x="3387" y="147154"/>
                    <a:pt x="0" y="138978"/>
                    <a:pt x="0" y="130452"/>
                  </a:cubicBezTo>
                  <a:lnTo>
                    <a:pt x="0" y="32147"/>
                  </a:lnTo>
                  <a:cubicBezTo>
                    <a:pt x="0" y="23621"/>
                    <a:pt x="3387" y="15444"/>
                    <a:pt x="9416" y="9416"/>
                  </a:cubicBezTo>
                  <a:cubicBezTo>
                    <a:pt x="15444" y="3387"/>
                    <a:pt x="23621" y="0"/>
                    <a:pt x="3214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78270" cy="21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12004" y="5490686"/>
            <a:ext cx="329441" cy="247079"/>
            <a:chOff x="0" y="0"/>
            <a:chExt cx="439255" cy="3294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9293" cy="329438"/>
            </a:xfrm>
            <a:custGeom>
              <a:avLst/>
              <a:gdLst/>
              <a:ahLst/>
              <a:cxnLst/>
              <a:rect r="r" b="b" t="t" l="l"/>
              <a:pathLst>
                <a:path h="329438" w="439293">
                  <a:moveTo>
                    <a:pt x="0" y="82423"/>
                  </a:moveTo>
                  <a:lnTo>
                    <a:pt x="274574" y="82423"/>
                  </a:lnTo>
                  <a:lnTo>
                    <a:pt x="274574" y="0"/>
                  </a:lnTo>
                  <a:lnTo>
                    <a:pt x="439293" y="164719"/>
                  </a:lnTo>
                  <a:lnTo>
                    <a:pt x="274574" y="329438"/>
                  </a:lnTo>
                  <a:lnTo>
                    <a:pt x="274574" y="247142"/>
                  </a:lnTo>
                  <a:lnTo>
                    <a:pt x="0" y="247142"/>
                  </a:lnTo>
                  <a:close/>
                </a:path>
              </a:pathLst>
            </a:custGeom>
            <a:solidFill>
              <a:srgbClr val="F2A90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31292" y="5286492"/>
            <a:ext cx="6286843" cy="655468"/>
            <a:chOff x="0" y="0"/>
            <a:chExt cx="1655794" cy="172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55794" cy="172634"/>
            </a:xfrm>
            <a:custGeom>
              <a:avLst/>
              <a:gdLst/>
              <a:ahLst/>
              <a:cxnLst/>
              <a:rect r="r" b="b" t="t" l="l"/>
              <a:pathLst>
                <a:path h="172634" w="1655794">
                  <a:moveTo>
                    <a:pt x="20935" y="0"/>
                  </a:moveTo>
                  <a:lnTo>
                    <a:pt x="1634860" y="0"/>
                  </a:lnTo>
                  <a:cubicBezTo>
                    <a:pt x="1646421" y="0"/>
                    <a:pt x="1655794" y="9373"/>
                    <a:pt x="1655794" y="20935"/>
                  </a:cubicBezTo>
                  <a:lnTo>
                    <a:pt x="1655794" y="151699"/>
                  </a:lnTo>
                  <a:cubicBezTo>
                    <a:pt x="1655794" y="163261"/>
                    <a:pt x="1646421" y="172634"/>
                    <a:pt x="1634860" y="172634"/>
                  </a:cubicBezTo>
                  <a:lnTo>
                    <a:pt x="20935" y="172634"/>
                  </a:lnTo>
                  <a:cubicBezTo>
                    <a:pt x="9373" y="172634"/>
                    <a:pt x="0" y="163261"/>
                    <a:pt x="0" y="151699"/>
                  </a:cubicBezTo>
                  <a:lnTo>
                    <a:pt x="0" y="20935"/>
                  </a:lnTo>
                  <a:cubicBezTo>
                    <a:pt x="0" y="9373"/>
                    <a:pt x="9373" y="0"/>
                    <a:pt x="20935" y="0"/>
                  </a:cubicBezTo>
                  <a:close/>
                </a:path>
              </a:pathLst>
            </a:custGeom>
            <a:solidFill>
              <a:srgbClr val="FBC19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655794" cy="229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80873" y="5271059"/>
            <a:ext cx="6012304" cy="686336"/>
            <a:chOff x="0" y="0"/>
            <a:chExt cx="8016405" cy="9151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16407" cy="915119"/>
            </a:xfrm>
            <a:custGeom>
              <a:avLst/>
              <a:gdLst/>
              <a:ahLst/>
              <a:cxnLst/>
              <a:rect r="r" b="b" t="t" l="l"/>
              <a:pathLst>
                <a:path h="915119" w="8016407">
                  <a:moveTo>
                    <a:pt x="0" y="0"/>
                  </a:moveTo>
                  <a:lnTo>
                    <a:pt x="8016407" y="0"/>
                  </a:lnTo>
                  <a:lnTo>
                    <a:pt x="8016407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016405" cy="91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7"/>
                </a:lnSpc>
              </a:pP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Conv</a:t>
              </a: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ert/distill from the AI4Bharat checkpoint before demo day; disclose the gap openly if not ready.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90043" y="6128842"/>
            <a:ext cx="4094058" cy="617368"/>
            <a:chOff x="0" y="0"/>
            <a:chExt cx="1078270" cy="1625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8270" cy="162599"/>
            </a:xfrm>
            <a:custGeom>
              <a:avLst/>
              <a:gdLst/>
              <a:ahLst/>
              <a:cxnLst/>
              <a:rect r="r" b="b" t="t" l="l"/>
              <a:pathLst>
                <a:path h="162599" w="1078270">
                  <a:moveTo>
                    <a:pt x="32147" y="0"/>
                  </a:moveTo>
                  <a:lnTo>
                    <a:pt x="1046123" y="0"/>
                  </a:lnTo>
                  <a:cubicBezTo>
                    <a:pt x="1063878" y="0"/>
                    <a:pt x="1078270" y="14393"/>
                    <a:pt x="1078270" y="32147"/>
                  </a:cubicBezTo>
                  <a:lnTo>
                    <a:pt x="1078270" y="130452"/>
                  </a:lnTo>
                  <a:cubicBezTo>
                    <a:pt x="1078270" y="138978"/>
                    <a:pt x="1074884" y="147154"/>
                    <a:pt x="1068855" y="153183"/>
                  </a:cubicBezTo>
                  <a:cubicBezTo>
                    <a:pt x="1062826" y="159212"/>
                    <a:pt x="1054649" y="162599"/>
                    <a:pt x="1046123" y="162599"/>
                  </a:cubicBezTo>
                  <a:lnTo>
                    <a:pt x="32147" y="162599"/>
                  </a:lnTo>
                  <a:cubicBezTo>
                    <a:pt x="23621" y="162599"/>
                    <a:pt x="15444" y="159212"/>
                    <a:pt x="9416" y="153183"/>
                  </a:cubicBezTo>
                  <a:cubicBezTo>
                    <a:pt x="3387" y="147154"/>
                    <a:pt x="0" y="138978"/>
                    <a:pt x="0" y="130452"/>
                  </a:cubicBezTo>
                  <a:lnTo>
                    <a:pt x="0" y="32147"/>
                  </a:lnTo>
                  <a:cubicBezTo>
                    <a:pt x="0" y="23621"/>
                    <a:pt x="3387" y="15444"/>
                    <a:pt x="9416" y="9416"/>
                  </a:cubicBezTo>
                  <a:cubicBezTo>
                    <a:pt x="15444" y="3387"/>
                    <a:pt x="23621" y="0"/>
                    <a:pt x="3214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078270" cy="21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8154" y="6229979"/>
            <a:ext cx="3897838" cy="343167"/>
            <a:chOff x="0" y="0"/>
            <a:chExt cx="5197117" cy="4575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97112" cy="457559"/>
            </a:xfrm>
            <a:custGeom>
              <a:avLst/>
              <a:gdLst/>
              <a:ahLst/>
              <a:cxnLst/>
              <a:rect r="r" b="b" t="t" l="l"/>
              <a:pathLst>
                <a:path h="457559" w="5197112">
                  <a:moveTo>
                    <a:pt x="0" y="0"/>
                  </a:moveTo>
                  <a:lnTo>
                    <a:pt x="5197112" y="0"/>
                  </a:lnTo>
                  <a:lnTo>
                    <a:pt x="519711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335" r="3155" b="-21433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197117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8"/>
                </a:lnSpc>
              </a:pP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OEM ROMs kill mic &amp; alarm playback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812004" y="6334887"/>
            <a:ext cx="329441" cy="247079"/>
            <a:chOff x="0" y="0"/>
            <a:chExt cx="439255" cy="3294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9293" cy="329438"/>
            </a:xfrm>
            <a:custGeom>
              <a:avLst/>
              <a:gdLst/>
              <a:ahLst/>
              <a:cxnLst/>
              <a:rect r="r" b="b" t="t" l="l"/>
              <a:pathLst>
                <a:path h="329438" w="439293">
                  <a:moveTo>
                    <a:pt x="0" y="82423"/>
                  </a:moveTo>
                  <a:lnTo>
                    <a:pt x="274574" y="82423"/>
                  </a:lnTo>
                  <a:lnTo>
                    <a:pt x="274574" y="0"/>
                  </a:lnTo>
                  <a:lnTo>
                    <a:pt x="439293" y="164719"/>
                  </a:lnTo>
                  <a:lnTo>
                    <a:pt x="274574" y="329438"/>
                  </a:lnTo>
                  <a:lnTo>
                    <a:pt x="274574" y="247142"/>
                  </a:lnTo>
                  <a:lnTo>
                    <a:pt x="0" y="247142"/>
                  </a:lnTo>
                  <a:close/>
                </a:path>
              </a:pathLst>
            </a:custGeom>
            <a:solidFill>
              <a:srgbClr val="F2A9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63732" y="6090742"/>
            <a:ext cx="6286843" cy="682276"/>
            <a:chOff x="0" y="0"/>
            <a:chExt cx="1655794" cy="1796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5794" cy="179694"/>
            </a:xfrm>
            <a:custGeom>
              <a:avLst/>
              <a:gdLst/>
              <a:ahLst/>
              <a:cxnLst/>
              <a:rect r="r" b="b" t="t" l="l"/>
              <a:pathLst>
                <a:path h="179694" w="1655794">
                  <a:moveTo>
                    <a:pt x="20935" y="0"/>
                  </a:moveTo>
                  <a:lnTo>
                    <a:pt x="1634860" y="0"/>
                  </a:lnTo>
                  <a:cubicBezTo>
                    <a:pt x="1646421" y="0"/>
                    <a:pt x="1655794" y="9373"/>
                    <a:pt x="1655794" y="20935"/>
                  </a:cubicBezTo>
                  <a:lnTo>
                    <a:pt x="1655794" y="158759"/>
                  </a:lnTo>
                  <a:cubicBezTo>
                    <a:pt x="1655794" y="170321"/>
                    <a:pt x="1646421" y="179694"/>
                    <a:pt x="1634860" y="179694"/>
                  </a:cubicBezTo>
                  <a:lnTo>
                    <a:pt x="20935" y="179694"/>
                  </a:lnTo>
                  <a:cubicBezTo>
                    <a:pt x="9373" y="179694"/>
                    <a:pt x="0" y="170321"/>
                    <a:pt x="0" y="158759"/>
                  </a:cubicBezTo>
                  <a:lnTo>
                    <a:pt x="0" y="20935"/>
                  </a:lnTo>
                  <a:cubicBezTo>
                    <a:pt x="0" y="9373"/>
                    <a:pt x="9373" y="0"/>
                    <a:pt x="20935" y="0"/>
                  </a:cubicBezTo>
                  <a:close/>
                </a:path>
              </a:pathLst>
            </a:custGeom>
            <a:solidFill>
              <a:srgbClr val="FBC19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655794" cy="236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80873" y="6115260"/>
            <a:ext cx="6169702" cy="686336"/>
            <a:chOff x="0" y="0"/>
            <a:chExt cx="8226270" cy="9151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6272" cy="915119"/>
            </a:xfrm>
            <a:custGeom>
              <a:avLst/>
              <a:gdLst/>
              <a:ahLst/>
              <a:cxnLst/>
              <a:rect r="r" b="b" t="t" l="l"/>
              <a:pathLst>
                <a:path h="915119" w="8226272">
                  <a:moveTo>
                    <a:pt x="0" y="0"/>
                  </a:moveTo>
                  <a:lnTo>
                    <a:pt x="8226272" y="0"/>
                  </a:lnTo>
                  <a:lnTo>
                    <a:pt x="8226272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2551" b="-1206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226270" cy="91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7"/>
                </a:lnSpc>
              </a:pP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Foreground service + alarm stream + whitelist + ROM test script.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90043" y="6953993"/>
            <a:ext cx="4094058" cy="617368"/>
            <a:chOff x="0" y="0"/>
            <a:chExt cx="1078270" cy="1625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8270" cy="162599"/>
            </a:xfrm>
            <a:custGeom>
              <a:avLst/>
              <a:gdLst/>
              <a:ahLst/>
              <a:cxnLst/>
              <a:rect r="r" b="b" t="t" l="l"/>
              <a:pathLst>
                <a:path h="162599" w="1078270">
                  <a:moveTo>
                    <a:pt x="32147" y="0"/>
                  </a:moveTo>
                  <a:lnTo>
                    <a:pt x="1046123" y="0"/>
                  </a:lnTo>
                  <a:cubicBezTo>
                    <a:pt x="1063878" y="0"/>
                    <a:pt x="1078270" y="14393"/>
                    <a:pt x="1078270" y="32147"/>
                  </a:cubicBezTo>
                  <a:lnTo>
                    <a:pt x="1078270" y="130452"/>
                  </a:lnTo>
                  <a:cubicBezTo>
                    <a:pt x="1078270" y="138978"/>
                    <a:pt x="1074884" y="147154"/>
                    <a:pt x="1068855" y="153183"/>
                  </a:cubicBezTo>
                  <a:cubicBezTo>
                    <a:pt x="1062826" y="159212"/>
                    <a:pt x="1054649" y="162599"/>
                    <a:pt x="1046123" y="162599"/>
                  </a:cubicBezTo>
                  <a:lnTo>
                    <a:pt x="32147" y="162599"/>
                  </a:lnTo>
                  <a:cubicBezTo>
                    <a:pt x="23621" y="162599"/>
                    <a:pt x="15444" y="159212"/>
                    <a:pt x="9416" y="153183"/>
                  </a:cubicBezTo>
                  <a:cubicBezTo>
                    <a:pt x="3387" y="147154"/>
                    <a:pt x="0" y="138978"/>
                    <a:pt x="0" y="130452"/>
                  </a:cubicBezTo>
                  <a:lnTo>
                    <a:pt x="0" y="32147"/>
                  </a:lnTo>
                  <a:cubicBezTo>
                    <a:pt x="0" y="23621"/>
                    <a:pt x="3387" y="15444"/>
                    <a:pt x="9416" y="9416"/>
                  </a:cubicBezTo>
                  <a:cubicBezTo>
                    <a:pt x="15444" y="3387"/>
                    <a:pt x="23621" y="0"/>
                    <a:pt x="3214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078270" cy="21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22255" y="7091094"/>
            <a:ext cx="4057395" cy="343167"/>
            <a:chOff x="0" y="0"/>
            <a:chExt cx="5409860" cy="4575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09855" cy="457559"/>
            </a:xfrm>
            <a:custGeom>
              <a:avLst/>
              <a:gdLst/>
              <a:ahLst/>
              <a:cxnLst/>
              <a:rect r="r" b="b" t="t" l="l"/>
              <a:pathLst>
                <a:path h="457559" w="5409855">
                  <a:moveTo>
                    <a:pt x="0" y="0"/>
                  </a:moveTo>
                  <a:lnTo>
                    <a:pt x="5409855" y="0"/>
                  </a:lnTo>
                  <a:lnTo>
                    <a:pt x="5409855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335" r="6963" b="-2143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409860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8"/>
                </a:lnSpc>
              </a:pP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Phone radios reach only ~100 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12004" y="7179078"/>
            <a:ext cx="329441" cy="247079"/>
            <a:chOff x="0" y="0"/>
            <a:chExt cx="439255" cy="3294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9293" cy="329438"/>
            </a:xfrm>
            <a:custGeom>
              <a:avLst/>
              <a:gdLst/>
              <a:ahLst/>
              <a:cxnLst/>
              <a:rect r="r" b="b" t="t" l="l"/>
              <a:pathLst>
                <a:path h="329438" w="439293">
                  <a:moveTo>
                    <a:pt x="0" y="82423"/>
                  </a:moveTo>
                  <a:lnTo>
                    <a:pt x="274574" y="82423"/>
                  </a:lnTo>
                  <a:lnTo>
                    <a:pt x="274574" y="0"/>
                  </a:lnTo>
                  <a:lnTo>
                    <a:pt x="439293" y="164719"/>
                  </a:lnTo>
                  <a:lnTo>
                    <a:pt x="274574" y="329438"/>
                  </a:lnTo>
                  <a:lnTo>
                    <a:pt x="274574" y="247142"/>
                  </a:lnTo>
                  <a:lnTo>
                    <a:pt x="0" y="247142"/>
                  </a:lnTo>
                  <a:close/>
                </a:path>
              </a:pathLst>
            </a:custGeom>
            <a:solidFill>
              <a:srgbClr val="F2A90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288442" y="6934943"/>
            <a:ext cx="6286843" cy="655468"/>
            <a:chOff x="0" y="0"/>
            <a:chExt cx="1655794" cy="17263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55794" cy="172634"/>
            </a:xfrm>
            <a:custGeom>
              <a:avLst/>
              <a:gdLst/>
              <a:ahLst/>
              <a:cxnLst/>
              <a:rect r="r" b="b" t="t" l="l"/>
              <a:pathLst>
                <a:path h="172634" w="1655794">
                  <a:moveTo>
                    <a:pt x="20935" y="0"/>
                  </a:moveTo>
                  <a:lnTo>
                    <a:pt x="1634860" y="0"/>
                  </a:lnTo>
                  <a:cubicBezTo>
                    <a:pt x="1646421" y="0"/>
                    <a:pt x="1655794" y="9373"/>
                    <a:pt x="1655794" y="20935"/>
                  </a:cubicBezTo>
                  <a:lnTo>
                    <a:pt x="1655794" y="151699"/>
                  </a:lnTo>
                  <a:cubicBezTo>
                    <a:pt x="1655794" y="163261"/>
                    <a:pt x="1646421" y="172634"/>
                    <a:pt x="1634860" y="172634"/>
                  </a:cubicBezTo>
                  <a:lnTo>
                    <a:pt x="20935" y="172634"/>
                  </a:lnTo>
                  <a:cubicBezTo>
                    <a:pt x="9373" y="172634"/>
                    <a:pt x="0" y="163261"/>
                    <a:pt x="0" y="151699"/>
                  </a:cubicBezTo>
                  <a:lnTo>
                    <a:pt x="0" y="20935"/>
                  </a:lnTo>
                  <a:cubicBezTo>
                    <a:pt x="0" y="9373"/>
                    <a:pt x="9373" y="0"/>
                    <a:pt x="20935" y="0"/>
                  </a:cubicBezTo>
                  <a:close/>
                </a:path>
              </a:pathLst>
            </a:custGeom>
            <a:solidFill>
              <a:srgbClr val="FBC19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655794" cy="229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80873" y="6959451"/>
            <a:ext cx="6012304" cy="686336"/>
            <a:chOff x="0" y="0"/>
            <a:chExt cx="8016405" cy="91511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16407" cy="915119"/>
            </a:xfrm>
            <a:custGeom>
              <a:avLst/>
              <a:gdLst/>
              <a:ahLst/>
              <a:cxnLst/>
              <a:rect r="r" b="b" t="t" l="l"/>
              <a:pathLst>
                <a:path h="915119" w="8016407">
                  <a:moveTo>
                    <a:pt x="0" y="0"/>
                  </a:moveTo>
                  <a:lnTo>
                    <a:pt x="8016407" y="0"/>
                  </a:lnTo>
                  <a:lnTo>
                    <a:pt x="8016407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016405" cy="91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7"/>
                </a:lnSpc>
              </a:pP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Mesh relay + LoRa bridge + SMS + store-and-forward.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90043" y="7826759"/>
            <a:ext cx="4094058" cy="617368"/>
            <a:chOff x="0" y="0"/>
            <a:chExt cx="1078270" cy="1625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8270" cy="162599"/>
            </a:xfrm>
            <a:custGeom>
              <a:avLst/>
              <a:gdLst/>
              <a:ahLst/>
              <a:cxnLst/>
              <a:rect r="r" b="b" t="t" l="l"/>
              <a:pathLst>
                <a:path h="162599" w="1078270">
                  <a:moveTo>
                    <a:pt x="32147" y="0"/>
                  </a:moveTo>
                  <a:lnTo>
                    <a:pt x="1046123" y="0"/>
                  </a:lnTo>
                  <a:cubicBezTo>
                    <a:pt x="1063878" y="0"/>
                    <a:pt x="1078270" y="14393"/>
                    <a:pt x="1078270" y="32147"/>
                  </a:cubicBezTo>
                  <a:lnTo>
                    <a:pt x="1078270" y="130452"/>
                  </a:lnTo>
                  <a:cubicBezTo>
                    <a:pt x="1078270" y="138978"/>
                    <a:pt x="1074884" y="147154"/>
                    <a:pt x="1068855" y="153183"/>
                  </a:cubicBezTo>
                  <a:cubicBezTo>
                    <a:pt x="1062826" y="159212"/>
                    <a:pt x="1054649" y="162599"/>
                    <a:pt x="1046123" y="162599"/>
                  </a:cubicBezTo>
                  <a:lnTo>
                    <a:pt x="32147" y="162599"/>
                  </a:lnTo>
                  <a:cubicBezTo>
                    <a:pt x="23621" y="162599"/>
                    <a:pt x="15444" y="159212"/>
                    <a:pt x="9416" y="153183"/>
                  </a:cubicBezTo>
                  <a:cubicBezTo>
                    <a:pt x="3387" y="147154"/>
                    <a:pt x="0" y="138978"/>
                    <a:pt x="0" y="130452"/>
                  </a:cubicBezTo>
                  <a:lnTo>
                    <a:pt x="0" y="32147"/>
                  </a:lnTo>
                  <a:cubicBezTo>
                    <a:pt x="0" y="23621"/>
                    <a:pt x="3387" y="15444"/>
                    <a:pt x="9416" y="9416"/>
                  </a:cubicBezTo>
                  <a:cubicBezTo>
                    <a:pt x="15444" y="3387"/>
                    <a:pt x="23621" y="0"/>
                    <a:pt x="3214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078270" cy="21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74286" y="7952361"/>
            <a:ext cx="4057395" cy="343168"/>
            <a:chOff x="0" y="0"/>
            <a:chExt cx="5409860" cy="45755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09855" cy="457561"/>
            </a:xfrm>
            <a:custGeom>
              <a:avLst/>
              <a:gdLst/>
              <a:ahLst/>
              <a:cxnLst/>
              <a:rect r="r" b="b" t="t" l="l"/>
              <a:pathLst>
                <a:path h="457561" w="5409855">
                  <a:moveTo>
                    <a:pt x="0" y="0"/>
                  </a:moveTo>
                  <a:lnTo>
                    <a:pt x="5409855" y="0"/>
                  </a:lnTo>
                  <a:lnTo>
                    <a:pt x="5409855" y="457561"/>
                  </a:lnTo>
                  <a:lnTo>
                    <a:pt x="0" y="4575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335" r="6963" b="-21433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409860" cy="467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8"/>
                </a:lnSpc>
              </a:pP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Noisy venues · ta/ml/te WER fairness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812004" y="8023269"/>
            <a:ext cx="329441" cy="247079"/>
            <a:chOff x="0" y="0"/>
            <a:chExt cx="439255" cy="3294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9293" cy="329438"/>
            </a:xfrm>
            <a:custGeom>
              <a:avLst/>
              <a:gdLst/>
              <a:ahLst/>
              <a:cxnLst/>
              <a:rect r="r" b="b" t="t" l="l"/>
              <a:pathLst>
                <a:path h="329438" w="439293">
                  <a:moveTo>
                    <a:pt x="0" y="82423"/>
                  </a:moveTo>
                  <a:lnTo>
                    <a:pt x="274574" y="82423"/>
                  </a:lnTo>
                  <a:lnTo>
                    <a:pt x="274574" y="0"/>
                  </a:lnTo>
                  <a:lnTo>
                    <a:pt x="439293" y="164719"/>
                  </a:lnTo>
                  <a:lnTo>
                    <a:pt x="274574" y="329438"/>
                  </a:lnTo>
                  <a:lnTo>
                    <a:pt x="274574" y="247142"/>
                  </a:lnTo>
                  <a:lnTo>
                    <a:pt x="0" y="247142"/>
                  </a:lnTo>
                  <a:close/>
                </a:path>
              </a:pathLst>
            </a:custGeom>
            <a:solidFill>
              <a:srgbClr val="F2A9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263732" y="7760084"/>
            <a:ext cx="6286843" cy="655468"/>
            <a:chOff x="0" y="0"/>
            <a:chExt cx="1655794" cy="17263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55794" cy="172634"/>
            </a:xfrm>
            <a:custGeom>
              <a:avLst/>
              <a:gdLst/>
              <a:ahLst/>
              <a:cxnLst/>
              <a:rect r="r" b="b" t="t" l="l"/>
              <a:pathLst>
                <a:path h="172634" w="1655794">
                  <a:moveTo>
                    <a:pt x="20935" y="0"/>
                  </a:moveTo>
                  <a:lnTo>
                    <a:pt x="1634860" y="0"/>
                  </a:lnTo>
                  <a:cubicBezTo>
                    <a:pt x="1646421" y="0"/>
                    <a:pt x="1655794" y="9373"/>
                    <a:pt x="1655794" y="20935"/>
                  </a:cubicBezTo>
                  <a:lnTo>
                    <a:pt x="1655794" y="151699"/>
                  </a:lnTo>
                  <a:cubicBezTo>
                    <a:pt x="1655794" y="163261"/>
                    <a:pt x="1646421" y="172634"/>
                    <a:pt x="1634860" y="172634"/>
                  </a:cubicBezTo>
                  <a:lnTo>
                    <a:pt x="20935" y="172634"/>
                  </a:lnTo>
                  <a:cubicBezTo>
                    <a:pt x="9373" y="172634"/>
                    <a:pt x="0" y="163261"/>
                    <a:pt x="0" y="151699"/>
                  </a:cubicBezTo>
                  <a:lnTo>
                    <a:pt x="0" y="20935"/>
                  </a:lnTo>
                  <a:cubicBezTo>
                    <a:pt x="0" y="9373"/>
                    <a:pt x="9373" y="0"/>
                    <a:pt x="20935" y="0"/>
                  </a:cubicBezTo>
                  <a:close/>
                </a:path>
              </a:pathLst>
            </a:custGeom>
            <a:solidFill>
              <a:srgbClr val="FBC193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655794" cy="229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380873" y="7760087"/>
            <a:ext cx="6012304" cy="686336"/>
            <a:chOff x="0" y="0"/>
            <a:chExt cx="8016405" cy="91511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16407" cy="915119"/>
            </a:xfrm>
            <a:custGeom>
              <a:avLst/>
              <a:gdLst/>
              <a:ahLst/>
              <a:cxnLst/>
              <a:rect r="r" b="b" t="t" l="l"/>
              <a:pathLst>
                <a:path h="915119" w="8016407">
                  <a:moveTo>
                    <a:pt x="0" y="0"/>
                  </a:moveTo>
                  <a:lnTo>
                    <a:pt x="8016407" y="0"/>
                  </a:lnTo>
                  <a:lnTo>
                    <a:pt x="8016407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016405" cy="91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7"/>
                </a:lnSpc>
              </a:pP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Noise-robust VAD + published char-level WER protocol.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90043" y="8682316"/>
            <a:ext cx="4094058" cy="617368"/>
            <a:chOff x="0" y="0"/>
            <a:chExt cx="1078270" cy="16259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8270" cy="162599"/>
            </a:xfrm>
            <a:custGeom>
              <a:avLst/>
              <a:gdLst/>
              <a:ahLst/>
              <a:cxnLst/>
              <a:rect r="r" b="b" t="t" l="l"/>
              <a:pathLst>
                <a:path h="162599" w="1078270">
                  <a:moveTo>
                    <a:pt x="32147" y="0"/>
                  </a:moveTo>
                  <a:lnTo>
                    <a:pt x="1046123" y="0"/>
                  </a:lnTo>
                  <a:cubicBezTo>
                    <a:pt x="1063878" y="0"/>
                    <a:pt x="1078270" y="14393"/>
                    <a:pt x="1078270" y="32147"/>
                  </a:cubicBezTo>
                  <a:lnTo>
                    <a:pt x="1078270" y="130452"/>
                  </a:lnTo>
                  <a:cubicBezTo>
                    <a:pt x="1078270" y="138978"/>
                    <a:pt x="1074884" y="147154"/>
                    <a:pt x="1068855" y="153183"/>
                  </a:cubicBezTo>
                  <a:cubicBezTo>
                    <a:pt x="1062826" y="159212"/>
                    <a:pt x="1054649" y="162599"/>
                    <a:pt x="1046123" y="162599"/>
                  </a:cubicBezTo>
                  <a:lnTo>
                    <a:pt x="32147" y="162599"/>
                  </a:lnTo>
                  <a:cubicBezTo>
                    <a:pt x="23621" y="162599"/>
                    <a:pt x="15444" y="159212"/>
                    <a:pt x="9416" y="153183"/>
                  </a:cubicBezTo>
                  <a:cubicBezTo>
                    <a:pt x="3387" y="147154"/>
                    <a:pt x="0" y="138978"/>
                    <a:pt x="0" y="130452"/>
                  </a:cubicBezTo>
                  <a:lnTo>
                    <a:pt x="0" y="32147"/>
                  </a:lnTo>
                  <a:cubicBezTo>
                    <a:pt x="0" y="23621"/>
                    <a:pt x="3387" y="15444"/>
                    <a:pt x="9416" y="9416"/>
                  </a:cubicBezTo>
                  <a:cubicBezTo>
                    <a:pt x="15444" y="3387"/>
                    <a:pt x="23621" y="0"/>
                    <a:pt x="3214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078270" cy="21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55236" y="8787027"/>
            <a:ext cx="3897838" cy="394187"/>
            <a:chOff x="0" y="0"/>
            <a:chExt cx="5197117" cy="52558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97112" cy="525587"/>
            </a:xfrm>
            <a:custGeom>
              <a:avLst/>
              <a:gdLst/>
              <a:ahLst/>
              <a:cxnLst/>
              <a:rect r="r" b="b" t="t" l="l"/>
              <a:pathLst>
                <a:path h="525587" w="5197112">
                  <a:moveTo>
                    <a:pt x="0" y="0"/>
                  </a:moveTo>
                  <a:lnTo>
                    <a:pt x="5197112" y="0"/>
                  </a:lnTo>
                  <a:lnTo>
                    <a:pt x="5197112" y="525587"/>
                  </a:lnTo>
                  <a:lnTo>
                    <a:pt x="0" y="5255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7" r="3155" b="-17364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5197117" cy="535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8"/>
                </a:lnSpc>
              </a:pP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36-hour offline finale build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812004" y="8867461"/>
            <a:ext cx="329441" cy="247079"/>
            <a:chOff x="0" y="0"/>
            <a:chExt cx="439255" cy="32943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9293" cy="329438"/>
            </a:xfrm>
            <a:custGeom>
              <a:avLst/>
              <a:gdLst/>
              <a:ahLst/>
              <a:cxnLst/>
              <a:rect r="r" b="b" t="t" l="l"/>
              <a:pathLst>
                <a:path h="329438" w="439293">
                  <a:moveTo>
                    <a:pt x="0" y="82423"/>
                  </a:moveTo>
                  <a:lnTo>
                    <a:pt x="274574" y="82423"/>
                  </a:lnTo>
                  <a:lnTo>
                    <a:pt x="274574" y="0"/>
                  </a:lnTo>
                  <a:lnTo>
                    <a:pt x="439293" y="164719"/>
                  </a:lnTo>
                  <a:lnTo>
                    <a:pt x="274574" y="329438"/>
                  </a:lnTo>
                  <a:lnTo>
                    <a:pt x="274574" y="247142"/>
                  </a:lnTo>
                  <a:lnTo>
                    <a:pt x="0" y="247142"/>
                  </a:lnTo>
                  <a:close/>
                </a:path>
              </a:pathLst>
            </a:custGeom>
            <a:solidFill>
              <a:srgbClr val="F2A90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243603" y="8575700"/>
            <a:ext cx="6286843" cy="655468"/>
            <a:chOff x="0" y="0"/>
            <a:chExt cx="1655794" cy="17263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55794" cy="172634"/>
            </a:xfrm>
            <a:custGeom>
              <a:avLst/>
              <a:gdLst/>
              <a:ahLst/>
              <a:cxnLst/>
              <a:rect r="r" b="b" t="t" l="l"/>
              <a:pathLst>
                <a:path h="172634" w="1655794">
                  <a:moveTo>
                    <a:pt x="20935" y="0"/>
                  </a:moveTo>
                  <a:lnTo>
                    <a:pt x="1634860" y="0"/>
                  </a:lnTo>
                  <a:cubicBezTo>
                    <a:pt x="1646421" y="0"/>
                    <a:pt x="1655794" y="9373"/>
                    <a:pt x="1655794" y="20935"/>
                  </a:cubicBezTo>
                  <a:lnTo>
                    <a:pt x="1655794" y="151699"/>
                  </a:lnTo>
                  <a:cubicBezTo>
                    <a:pt x="1655794" y="163261"/>
                    <a:pt x="1646421" y="172634"/>
                    <a:pt x="1634860" y="172634"/>
                  </a:cubicBezTo>
                  <a:lnTo>
                    <a:pt x="20935" y="172634"/>
                  </a:lnTo>
                  <a:cubicBezTo>
                    <a:pt x="9373" y="172634"/>
                    <a:pt x="0" y="163261"/>
                    <a:pt x="0" y="151699"/>
                  </a:cubicBezTo>
                  <a:lnTo>
                    <a:pt x="0" y="20935"/>
                  </a:lnTo>
                  <a:cubicBezTo>
                    <a:pt x="0" y="9373"/>
                    <a:pt x="9373" y="0"/>
                    <a:pt x="20935" y="0"/>
                  </a:cubicBezTo>
                  <a:close/>
                </a:path>
              </a:pathLst>
            </a:custGeom>
            <a:solidFill>
              <a:srgbClr val="FBC193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1655794" cy="229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380873" y="8575703"/>
            <a:ext cx="6012304" cy="686336"/>
            <a:chOff x="0" y="0"/>
            <a:chExt cx="8016405" cy="91511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016407" cy="915119"/>
            </a:xfrm>
            <a:custGeom>
              <a:avLst/>
              <a:gdLst/>
              <a:ahLst/>
              <a:cxnLst/>
              <a:rect r="r" b="b" t="t" l="l"/>
              <a:pathLst>
                <a:path h="915119" w="8016407">
                  <a:moveTo>
                    <a:pt x="0" y="0"/>
                  </a:moveTo>
                  <a:lnTo>
                    <a:pt x="8016407" y="0"/>
                  </a:lnTo>
                  <a:lnTo>
                    <a:pt x="8016407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8016405" cy="91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7"/>
                </a:lnSpc>
              </a:pP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Vendored deps; pre-paired spare phones; rehearsed demo kit.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122674" y="1808040"/>
            <a:ext cx="3407772" cy="521522"/>
            <a:chOff x="0" y="0"/>
            <a:chExt cx="897520" cy="1373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97520" cy="137356"/>
            </a:xfrm>
            <a:custGeom>
              <a:avLst/>
              <a:gdLst/>
              <a:ahLst/>
              <a:cxnLst/>
              <a:rect r="r" b="b" t="t" l="l"/>
              <a:pathLst>
                <a:path h="137356" w="897520">
                  <a:moveTo>
                    <a:pt x="38621" y="0"/>
                  </a:moveTo>
                  <a:lnTo>
                    <a:pt x="858899" y="0"/>
                  </a:lnTo>
                  <a:cubicBezTo>
                    <a:pt x="869142" y="0"/>
                    <a:pt x="878965" y="4069"/>
                    <a:pt x="886208" y="11312"/>
                  </a:cubicBezTo>
                  <a:cubicBezTo>
                    <a:pt x="893451" y="18555"/>
                    <a:pt x="897520" y="28378"/>
                    <a:pt x="897520" y="38621"/>
                  </a:cubicBezTo>
                  <a:lnTo>
                    <a:pt x="897520" y="98734"/>
                  </a:lnTo>
                  <a:cubicBezTo>
                    <a:pt x="897520" y="120064"/>
                    <a:pt x="880229" y="137356"/>
                    <a:pt x="858899" y="137356"/>
                  </a:cubicBezTo>
                  <a:lnTo>
                    <a:pt x="38621" y="137356"/>
                  </a:lnTo>
                  <a:cubicBezTo>
                    <a:pt x="28378" y="137356"/>
                    <a:pt x="18555" y="133287"/>
                    <a:pt x="11312" y="126044"/>
                  </a:cubicBezTo>
                  <a:cubicBezTo>
                    <a:pt x="4069" y="118801"/>
                    <a:pt x="0" y="108977"/>
                    <a:pt x="0" y="98734"/>
                  </a:cubicBezTo>
                  <a:lnTo>
                    <a:pt x="0" y="38621"/>
                  </a:lnTo>
                  <a:cubicBezTo>
                    <a:pt x="0" y="28378"/>
                    <a:pt x="4069" y="18555"/>
                    <a:pt x="11312" y="11312"/>
                  </a:cubicBezTo>
                  <a:cubicBezTo>
                    <a:pt x="18555" y="4069"/>
                    <a:pt x="28378" y="0"/>
                    <a:pt x="38621" y="0"/>
                  </a:cubicBezTo>
                  <a:close/>
                </a:path>
              </a:pathLst>
            </a:custGeom>
            <a:solidFill>
              <a:srgbClr val="F4C430">
                <a:alpha val="23137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897520" cy="194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151249" y="1797347"/>
            <a:ext cx="3426215" cy="532215"/>
            <a:chOff x="0" y="0"/>
            <a:chExt cx="4568287" cy="7096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568287" cy="709624"/>
            </a:xfrm>
            <a:custGeom>
              <a:avLst/>
              <a:gdLst/>
              <a:ahLst/>
              <a:cxnLst/>
              <a:rect r="r" b="b" t="t" l="l"/>
              <a:pathLst>
                <a:path h="709624" w="4568287">
                  <a:moveTo>
                    <a:pt x="0" y="0"/>
                  </a:moveTo>
                  <a:lnTo>
                    <a:pt x="4568287" y="0"/>
                  </a:lnTo>
                  <a:lnTo>
                    <a:pt x="4568287" y="709624"/>
                  </a:lnTo>
                  <a:lnTo>
                    <a:pt x="0" y="709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24" r="-20992" b="-9561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4568287" cy="72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390209" y="1825381"/>
            <a:ext cx="3461002" cy="521522"/>
            <a:chOff x="0" y="0"/>
            <a:chExt cx="911540" cy="1373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1540" cy="137356"/>
            </a:xfrm>
            <a:custGeom>
              <a:avLst/>
              <a:gdLst/>
              <a:ahLst/>
              <a:cxnLst/>
              <a:rect r="r" b="b" t="t" l="l"/>
              <a:pathLst>
                <a:path h="137356" w="911540">
                  <a:moveTo>
                    <a:pt x="38027" y="0"/>
                  </a:moveTo>
                  <a:lnTo>
                    <a:pt x="873512" y="0"/>
                  </a:lnTo>
                  <a:cubicBezTo>
                    <a:pt x="883598" y="0"/>
                    <a:pt x="893270" y="4006"/>
                    <a:pt x="900402" y="11138"/>
                  </a:cubicBezTo>
                  <a:cubicBezTo>
                    <a:pt x="907533" y="18269"/>
                    <a:pt x="911540" y="27942"/>
                    <a:pt x="911540" y="38027"/>
                  </a:cubicBezTo>
                  <a:lnTo>
                    <a:pt x="911540" y="99328"/>
                  </a:lnTo>
                  <a:cubicBezTo>
                    <a:pt x="911540" y="109414"/>
                    <a:pt x="907533" y="119086"/>
                    <a:pt x="900402" y="126218"/>
                  </a:cubicBezTo>
                  <a:cubicBezTo>
                    <a:pt x="893270" y="133349"/>
                    <a:pt x="883598" y="137356"/>
                    <a:pt x="873512" y="137356"/>
                  </a:cubicBezTo>
                  <a:lnTo>
                    <a:pt x="38027" y="137356"/>
                  </a:lnTo>
                  <a:cubicBezTo>
                    <a:pt x="27942" y="137356"/>
                    <a:pt x="18269" y="133349"/>
                    <a:pt x="11138" y="126218"/>
                  </a:cubicBezTo>
                  <a:cubicBezTo>
                    <a:pt x="4006" y="119086"/>
                    <a:pt x="0" y="109414"/>
                    <a:pt x="0" y="99328"/>
                  </a:cubicBezTo>
                  <a:lnTo>
                    <a:pt x="0" y="38027"/>
                  </a:lnTo>
                  <a:cubicBezTo>
                    <a:pt x="0" y="27942"/>
                    <a:pt x="4006" y="18269"/>
                    <a:pt x="11138" y="11138"/>
                  </a:cubicBezTo>
                  <a:cubicBezTo>
                    <a:pt x="18269" y="4006"/>
                    <a:pt x="27942" y="0"/>
                    <a:pt x="38027" y="0"/>
                  </a:cubicBezTo>
                  <a:close/>
                </a:path>
              </a:pathLst>
            </a:custGeom>
            <a:solidFill>
              <a:srgbClr val="00BF63">
                <a:alpha val="34118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911540" cy="194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356872" y="1857821"/>
            <a:ext cx="3527677" cy="466709"/>
            <a:chOff x="0" y="0"/>
            <a:chExt cx="4703570" cy="62227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03570" cy="622282"/>
            </a:xfrm>
            <a:custGeom>
              <a:avLst/>
              <a:gdLst/>
              <a:ahLst/>
              <a:cxnLst/>
              <a:rect r="r" b="b" t="t" l="l"/>
              <a:pathLst>
                <a:path h="622282" w="4703570">
                  <a:moveTo>
                    <a:pt x="0" y="0"/>
                  </a:moveTo>
                  <a:lnTo>
                    <a:pt x="4703570" y="0"/>
                  </a:lnTo>
                  <a:lnTo>
                    <a:pt x="4703570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072" r="-17512" b="-12307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4703570" cy="64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76520" y="9471134"/>
            <a:ext cx="4094058" cy="617368"/>
            <a:chOff x="0" y="0"/>
            <a:chExt cx="1078270" cy="16259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78270" cy="162599"/>
            </a:xfrm>
            <a:custGeom>
              <a:avLst/>
              <a:gdLst/>
              <a:ahLst/>
              <a:cxnLst/>
              <a:rect r="r" b="b" t="t" l="l"/>
              <a:pathLst>
                <a:path h="162599" w="1078270">
                  <a:moveTo>
                    <a:pt x="32147" y="0"/>
                  </a:moveTo>
                  <a:lnTo>
                    <a:pt x="1046123" y="0"/>
                  </a:lnTo>
                  <a:cubicBezTo>
                    <a:pt x="1063878" y="0"/>
                    <a:pt x="1078270" y="14393"/>
                    <a:pt x="1078270" y="32147"/>
                  </a:cubicBezTo>
                  <a:lnTo>
                    <a:pt x="1078270" y="130452"/>
                  </a:lnTo>
                  <a:cubicBezTo>
                    <a:pt x="1078270" y="138978"/>
                    <a:pt x="1074884" y="147154"/>
                    <a:pt x="1068855" y="153183"/>
                  </a:cubicBezTo>
                  <a:cubicBezTo>
                    <a:pt x="1062826" y="159212"/>
                    <a:pt x="1054649" y="162599"/>
                    <a:pt x="1046123" y="162599"/>
                  </a:cubicBezTo>
                  <a:lnTo>
                    <a:pt x="32147" y="162599"/>
                  </a:lnTo>
                  <a:cubicBezTo>
                    <a:pt x="23621" y="162599"/>
                    <a:pt x="15444" y="159212"/>
                    <a:pt x="9416" y="153183"/>
                  </a:cubicBezTo>
                  <a:cubicBezTo>
                    <a:pt x="3387" y="147154"/>
                    <a:pt x="0" y="138978"/>
                    <a:pt x="0" y="130452"/>
                  </a:cubicBezTo>
                  <a:lnTo>
                    <a:pt x="0" y="32147"/>
                  </a:lnTo>
                  <a:cubicBezTo>
                    <a:pt x="0" y="23621"/>
                    <a:pt x="3387" y="15444"/>
                    <a:pt x="9416" y="9416"/>
                  </a:cubicBezTo>
                  <a:cubicBezTo>
                    <a:pt x="15444" y="3387"/>
                    <a:pt x="23621" y="0"/>
                    <a:pt x="32147" y="0"/>
                  </a:cubicBez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1078270" cy="21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45711" y="9413613"/>
            <a:ext cx="4152944" cy="742178"/>
            <a:chOff x="0" y="0"/>
            <a:chExt cx="5197117" cy="9287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197112" cy="928788"/>
            </a:xfrm>
            <a:custGeom>
              <a:avLst/>
              <a:gdLst/>
              <a:ahLst/>
              <a:cxnLst/>
              <a:rect r="r" b="b" t="t" l="l"/>
              <a:pathLst>
                <a:path h="928788" w="5197112">
                  <a:moveTo>
                    <a:pt x="0" y="0"/>
                  </a:moveTo>
                  <a:lnTo>
                    <a:pt x="5197112" y="0"/>
                  </a:lnTo>
                  <a:lnTo>
                    <a:pt x="5197112" y="928788"/>
                  </a:lnTo>
                  <a:lnTo>
                    <a:pt x="0" y="9287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326" r="3155" b="-5485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5197117" cy="938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8"/>
                </a:lnSpc>
              </a:pP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Bundling all 10 languages = ~1.5 GB bloat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278950" y="9395389"/>
            <a:ext cx="6286843" cy="655468"/>
            <a:chOff x="0" y="0"/>
            <a:chExt cx="1655794" cy="17263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655794" cy="172634"/>
            </a:xfrm>
            <a:custGeom>
              <a:avLst/>
              <a:gdLst/>
              <a:ahLst/>
              <a:cxnLst/>
              <a:rect r="r" b="b" t="t" l="l"/>
              <a:pathLst>
                <a:path h="172634" w="1655794">
                  <a:moveTo>
                    <a:pt x="20935" y="0"/>
                  </a:moveTo>
                  <a:lnTo>
                    <a:pt x="1634860" y="0"/>
                  </a:lnTo>
                  <a:cubicBezTo>
                    <a:pt x="1646421" y="0"/>
                    <a:pt x="1655794" y="9373"/>
                    <a:pt x="1655794" y="20935"/>
                  </a:cubicBezTo>
                  <a:lnTo>
                    <a:pt x="1655794" y="151699"/>
                  </a:lnTo>
                  <a:cubicBezTo>
                    <a:pt x="1655794" y="163261"/>
                    <a:pt x="1646421" y="172634"/>
                    <a:pt x="1634860" y="172634"/>
                  </a:cubicBezTo>
                  <a:lnTo>
                    <a:pt x="20935" y="172634"/>
                  </a:lnTo>
                  <a:cubicBezTo>
                    <a:pt x="9373" y="172634"/>
                    <a:pt x="0" y="163261"/>
                    <a:pt x="0" y="151699"/>
                  </a:cubicBezTo>
                  <a:lnTo>
                    <a:pt x="0" y="20935"/>
                  </a:lnTo>
                  <a:cubicBezTo>
                    <a:pt x="0" y="9373"/>
                    <a:pt x="9373" y="0"/>
                    <a:pt x="20935" y="0"/>
                  </a:cubicBezTo>
                  <a:close/>
                </a:path>
              </a:pathLst>
            </a:custGeom>
            <a:solidFill>
              <a:srgbClr val="FBC193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1655794" cy="229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2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425711" y="9338239"/>
            <a:ext cx="6012304" cy="686336"/>
            <a:chOff x="0" y="0"/>
            <a:chExt cx="8016405" cy="91511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016407" cy="915119"/>
            </a:xfrm>
            <a:custGeom>
              <a:avLst/>
              <a:gdLst/>
              <a:ahLst/>
              <a:cxnLst/>
              <a:rect r="r" b="b" t="t" l="l"/>
              <a:pathLst>
                <a:path h="915119" w="8016407">
                  <a:moveTo>
                    <a:pt x="0" y="0"/>
                  </a:moveTo>
                  <a:lnTo>
                    <a:pt x="8016407" y="0"/>
                  </a:lnTo>
                  <a:lnTo>
                    <a:pt x="8016407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8016405" cy="91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7"/>
                </a:lnSpc>
              </a:pP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</a:t>
              </a:r>
              <a:r>
                <a:rPr lang="en-US" sz="1555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n-demand packs — install only your preferred languages.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812004" y="9590789"/>
            <a:ext cx="329441" cy="247079"/>
            <a:chOff x="0" y="0"/>
            <a:chExt cx="439255" cy="32943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39293" cy="329438"/>
            </a:xfrm>
            <a:custGeom>
              <a:avLst/>
              <a:gdLst/>
              <a:ahLst/>
              <a:cxnLst/>
              <a:rect r="r" b="b" t="t" l="l"/>
              <a:pathLst>
                <a:path h="329438" w="439293">
                  <a:moveTo>
                    <a:pt x="0" y="82423"/>
                  </a:moveTo>
                  <a:lnTo>
                    <a:pt x="274574" y="82423"/>
                  </a:lnTo>
                  <a:lnTo>
                    <a:pt x="274574" y="0"/>
                  </a:lnTo>
                  <a:lnTo>
                    <a:pt x="439293" y="164719"/>
                  </a:lnTo>
                  <a:lnTo>
                    <a:pt x="274574" y="329438"/>
                  </a:lnTo>
                  <a:lnTo>
                    <a:pt x="274574" y="247142"/>
                  </a:lnTo>
                  <a:lnTo>
                    <a:pt x="0" y="247142"/>
                  </a:lnTo>
                  <a:close/>
                </a:path>
              </a:pathLst>
            </a:custGeom>
            <a:solidFill>
              <a:srgbClr val="F2A90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688154" y="5397026"/>
            <a:ext cx="3940280" cy="568264"/>
            <a:chOff x="0" y="0"/>
            <a:chExt cx="5274085" cy="76062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274080" cy="760628"/>
            </a:xfrm>
            <a:custGeom>
              <a:avLst/>
              <a:gdLst/>
              <a:ahLst/>
              <a:cxnLst/>
              <a:rect r="r" b="b" t="t" l="l"/>
              <a:pathLst>
                <a:path h="760628" w="5274080">
                  <a:moveTo>
                    <a:pt x="0" y="0"/>
                  </a:moveTo>
                  <a:lnTo>
                    <a:pt x="5274080" y="0"/>
                  </a:lnTo>
                  <a:lnTo>
                    <a:pt x="5274080" y="760628"/>
                  </a:lnTo>
                  <a:lnTo>
                    <a:pt x="0" y="760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79" r="4568" b="-8908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5274085" cy="770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8"/>
                </a:lnSpc>
              </a:pP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IndicC</a:t>
              </a:r>
              <a:r>
                <a:rPr lang="en-US" sz="1655" b="true">
                  <a:solidFill>
                    <a:srgbClr val="9B3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onformer has no ready Odia export</a:t>
              </a: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7977013" y="2568030"/>
            <a:ext cx="3690702" cy="207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131" indent="-192066" lvl="1">
              <a:lnSpc>
                <a:spcPts val="2049"/>
              </a:lnSpc>
              <a:buFont typeface="Arial"/>
              <a:buChar char="•"/>
            </a:pPr>
            <a:r>
              <a:rPr lang="en-US" sz="177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Voice-first UX for illiterate users; 1-tap zero-pairing walkie-talkieders.</a:t>
            </a:r>
          </a:p>
          <a:p>
            <a:pPr algn="l" marL="384131" indent="-192066" lvl="1">
              <a:lnSpc>
                <a:spcPts val="2049"/>
              </a:lnSpc>
              <a:buFont typeface="Arial"/>
              <a:buChar char="•"/>
            </a:pPr>
            <a:r>
              <a:rPr lang="en-US" sz="177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End-to-end voice relay in </a:t>
            </a:r>
          </a:p>
          <a:p>
            <a:pPr algn="l">
              <a:lnSpc>
                <a:spcPts val="2049"/>
              </a:lnSpc>
            </a:pPr>
            <a:r>
              <a:rPr lang="en-US" sz="177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     seconds over peer-to-peer</a:t>
            </a:r>
          </a:p>
          <a:p>
            <a:pPr algn="l">
              <a:lnSpc>
                <a:spcPts val="2049"/>
              </a:lnSpc>
            </a:pPr>
            <a:r>
              <a:rPr lang="en-US" sz="177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     WIFI/Bluetooth           </a:t>
            </a:r>
          </a:p>
          <a:p>
            <a:pPr algn="l" marL="384131" indent="-192066" lvl="1">
              <a:lnSpc>
                <a:spcPts val="2049"/>
              </a:lnSpc>
              <a:buFont typeface="Arial"/>
              <a:buChar char="•"/>
            </a:pPr>
            <a:r>
              <a:rPr lang="en-US" sz="177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Non-interruptible alerts bypass system. 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526333" y="4833033"/>
            <a:ext cx="3628050" cy="33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2"/>
              </a:lnSpc>
              <a:spcBef>
                <a:spcPct val="0"/>
              </a:spcBef>
            </a:pPr>
            <a:r>
              <a:rPr lang="en-US" b="true" sz="208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challenges and risks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05795" y="2516506"/>
            <a:ext cx="3986579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052" indent="-196526" lvl="1">
              <a:lnSpc>
                <a:spcPts val="2184"/>
              </a:lnSpc>
              <a:buFont typeface="Arial"/>
              <a:buChar char="•"/>
            </a:pPr>
            <a:r>
              <a:rPr lang="en-US" sz="18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part open-source &amp; verified.</a:t>
            </a:r>
          </a:p>
          <a:p>
            <a:pPr algn="l" marL="393052" indent="-196526" lvl="1">
              <a:lnSpc>
                <a:spcPts val="2184"/>
              </a:lnSpc>
              <a:buFont typeface="Arial"/>
              <a:buChar char="•"/>
            </a:pPr>
            <a:r>
              <a:rPr lang="en-US" sz="18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INT-8 quantized models (42–188 MB/lang) fit within 2 GB RAM budget.</a:t>
            </a:r>
          </a:p>
          <a:p>
            <a:pPr algn="l" marL="393052" indent="-196526" lvl="1">
              <a:lnSpc>
                <a:spcPts val="2184"/>
              </a:lnSpc>
              <a:buFont typeface="Arial"/>
              <a:buChar char="•"/>
            </a:pPr>
            <a:r>
              <a:rPr lang="en-US" sz="18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Utterance-level non-streaming decode prevents hallucination &amp; lowers CPU. 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4230530" y="2489778"/>
            <a:ext cx="3644494" cy="201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010" indent="-205005" lvl="1">
              <a:lnSpc>
                <a:spcPts val="2278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₹0 infrastructure — no towers, servers, or cellular data.</a:t>
            </a:r>
          </a:p>
          <a:p>
            <a:pPr algn="l" marL="410010" indent="-205005" lvl="1">
              <a:lnSpc>
                <a:spcPts val="2278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standby footprint: Silero-VAD/TFLite gate draws &lt;15% idle CPU.</a:t>
            </a:r>
          </a:p>
          <a:p>
            <a:pPr algn="l" marL="410010" indent="-205005" lvl="1">
              <a:lnSpc>
                <a:spcPts val="2278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Targets ₹8–10k · 3-4 GB RAM phones.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5278950" y="4823508"/>
            <a:ext cx="4806132" cy="33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Strategies for overcoming these challenges</a:t>
            </a:r>
          </a:p>
        </p:txBody>
      </p:sp>
      <p:graphicFrame>
        <p:nvGraphicFramePr>
          <p:cNvPr name="Table 120" id="120"/>
          <p:cNvGraphicFramePr>
            <a:graphicFrameLocks noGrp="true"/>
          </p:cNvGraphicFramePr>
          <p:nvPr/>
        </p:nvGraphicFramePr>
        <p:xfrm>
          <a:off x="11972515" y="1937631"/>
          <a:ext cx="5987859" cy="8031979"/>
        </p:xfrm>
        <a:graphic>
          <a:graphicData uri="http://schemas.openxmlformats.org/drawingml/2006/table">
            <a:tbl>
              <a:tblPr/>
              <a:tblGrid>
                <a:gridCol w="2106841"/>
                <a:gridCol w="3881019"/>
              </a:tblGrid>
              <a:tr h="786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1"/>
                        </a:lnSpc>
                        <a:defRPr/>
                      </a:pPr>
                      <a:r>
                        <a:rPr lang="en-US" sz="2126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Strategy pillar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1"/>
                        </a:lnSpc>
                        <a:defRPr/>
                      </a:pPr>
                      <a:r>
                        <a:rPr lang="en-US" sz="2126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Application to sanwad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</a:tr>
              <a:tr h="17161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Target End-Users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DRF (Disaster Response), State Maritime Boards (Fishermen), and rural frontline workers operating beyond cell coverage. 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73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Distribution Channel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B2G (Business-to-Government) handoff. The app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serves as a Digital Public Infrastructure (DPI) tool distributed via government portals or pre-installed on state-subsidized hardware. 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2073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Financial viability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per-sustainable because of the ₹0 recurring operational cost. The government pays zero cloud or cellular transmission fees since all computing is done on the edge. 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819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Maintanence Model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Open-source community s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tewardship, with language-model updates tracked against upstream AI4Bharat / sherpa-onnx releases.</a:t>
                      </a:r>
                      <a:endParaRPr lang="en-US" sz="1100"/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5694" y="1595752"/>
            <a:ext cx="10717745" cy="543872"/>
            <a:chOff x="0" y="0"/>
            <a:chExt cx="10285895" cy="521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85892" cy="521955"/>
            </a:xfrm>
            <a:custGeom>
              <a:avLst/>
              <a:gdLst/>
              <a:ahLst/>
              <a:cxnLst/>
              <a:rect r="r" b="b" t="t" l="l"/>
              <a:pathLst>
                <a:path h="521955" w="10285892">
                  <a:moveTo>
                    <a:pt x="0" y="0"/>
                  </a:moveTo>
                  <a:lnTo>
                    <a:pt x="10285892" y="0"/>
                  </a:lnTo>
                  <a:lnTo>
                    <a:pt x="10285892" y="521955"/>
                  </a:lnTo>
                  <a:lnTo>
                    <a:pt x="0" y="5219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83" r="0" b="-33657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0285895" cy="541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1"/>
                </a:lnSpc>
              </a:pPr>
              <a:r>
                <a:rPr lang="en-US" sz="1926" b="true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Potential impact 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40390" y="2118679"/>
            <a:ext cx="7065064" cy="3649337"/>
          </a:xfrm>
          <a:custGeom>
            <a:avLst/>
            <a:gdLst/>
            <a:ahLst/>
            <a:cxnLst/>
            <a:rect r="r" b="b" t="t" l="l"/>
            <a:pathLst>
              <a:path h="3649337" w="7065064">
                <a:moveTo>
                  <a:pt x="0" y="0"/>
                </a:moveTo>
                <a:lnTo>
                  <a:pt x="7065064" y="0"/>
                </a:lnTo>
                <a:lnTo>
                  <a:pt x="7065064" y="3649337"/>
                </a:lnTo>
                <a:lnTo>
                  <a:pt x="0" y="3649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465" r="0" b="-446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5694" y="5962437"/>
            <a:ext cx="7658164" cy="23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1829" b="true">
                <a:solidFill>
                  <a:srgbClr val="B45309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182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Fishermen &amp; coastal communities — </a:t>
            </a:r>
            <a:r>
              <a:rPr lang="en-US" sz="182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SOS without towers, in their       own language</a:t>
            </a:r>
          </a:p>
          <a:p>
            <a:pPr algn="l">
              <a:lnSpc>
                <a:spcPts val="2283"/>
              </a:lnSpc>
            </a:pPr>
            <a:r>
              <a:rPr lang="en-US" sz="1829" b="true">
                <a:solidFill>
                  <a:srgbClr val="B45309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182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Disaster relief — </a:t>
            </a:r>
            <a:r>
              <a:rPr lang="en-US" sz="182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village-wide alerts when networks are down</a:t>
            </a:r>
          </a:p>
          <a:p>
            <a:pPr algn="l">
              <a:lnSpc>
                <a:spcPts val="2283"/>
              </a:lnSpc>
            </a:pPr>
            <a:r>
              <a:rPr lang="en-US" sz="1829" b="true">
                <a:solidFill>
                  <a:srgbClr val="B45309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182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Elderly &amp; low-literacy users — </a:t>
            </a:r>
            <a:r>
              <a:rPr lang="en-US" sz="182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nothing to read or type, ever</a:t>
            </a:r>
          </a:p>
          <a:p>
            <a:pPr algn="l">
              <a:lnSpc>
                <a:spcPts val="2283"/>
              </a:lnSpc>
            </a:pPr>
            <a:r>
              <a:rPr lang="en-US" sz="1829" b="true">
                <a:solidFill>
                  <a:srgbClr val="B45309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182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Disabled users — </a:t>
            </a:r>
            <a:r>
              <a:rPr lang="en-US" sz="18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transcript for deaf users; voice output for users who can't easily type.</a:t>
            </a:r>
          </a:p>
          <a:p>
            <a:pPr algn="l">
              <a:lnSpc>
                <a:spcPts val="2283"/>
              </a:lnSpc>
            </a:pPr>
            <a:r>
              <a:rPr lang="en-US" sz="1829" b="true">
                <a:solidFill>
                  <a:srgbClr val="B45309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182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Remote teams — </a:t>
            </a:r>
            <a:r>
              <a:rPr lang="en-US" sz="182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border posts, expeditions, ISRO low-bitrate operations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8308263" y="1896665"/>
          <a:ext cx="9736640" cy="6233263"/>
        </p:xfrm>
        <a:graphic>
          <a:graphicData uri="http://schemas.openxmlformats.org/drawingml/2006/table">
            <a:tbl>
              <a:tblPr/>
              <a:tblGrid>
                <a:gridCol w="3425857"/>
                <a:gridCol w="6310783"/>
              </a:tblGrid>
              <a:tr h="5242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1"/>
                        </a:lnSpc>
                        <a:defRPr/>
                      </a:pPr>
                      <a:r>
                        <a:rPr lang="en-US" sz="2126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Strategy pillar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1"/>
                        </a:lnSpc>
                        <a:defRPr/>
                      </a:pPr>
                      <a:r>
                        <a:rPr lang="en-US" sz="2126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Application to sanwad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</a:tr>
              <a:tr h="1858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891"/>
                        </a:lnSpc>
                      </a:pPr>
                    </a:p>
                    <a:p>
                      <a:pPr algn="ctr">
                        <a:lnSpc>
                          <a:spcPts val="1891"/>
                        </a:lnSpc>
                      </a:pPr>
                    </a:p>
                    <a:p>
                      <a:pPr algn="ctr">
                        <a:lnSpc>
                          <a:spcPts val="1891"/>
                        </a:lnSpc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SOCIAL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-Language Inclusivity: 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coverage for 9 Indic languages + Indian English, breaking linguistic barriers in diverse rescue zones. </a:t>
                      </a:r>
                      <a:endParaRPr lang="en-US" sz="1100"/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  <a:p>
                      <a:pPr algn="l">
                        <a:lnSpc>
                          <a:spcPts val="1891"/>
                        </a:lnSpc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Life-Safety Alert Policy: Emergency frames bypass mute/DND via USAGE_ALARM at maximum volume to wake operators even from locked screens. </a:t>
                      </a:r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59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  <a:p>
                      <a:pPr algn="ctr">
                        <a:lnSpc>
                          <a:spcPts val="1891"/>
                        </a:lnSpc>
                      </a:pPr>
                    </a:p>
                    <a:p>
                      <a:pPr algn="ctr">
                        <a:lnSpc>
                          <a:spcPts val="1891"/>
                        </a:lnSpc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ECONOMIC</a:t>
                      </a:r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₹0 Infrastructure &amp; Transmission: Zero cellular airtime, zero cloud compute, and zero recurring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server costs. </a:t>
                      </a:r>
                      <a:endParaRPr lang="en-US" sz="1100"/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  <a:p>
                      <a:pPr algn="l">
                        <a:lnSpc>
                          <a:spcPts val="1891"/>
                        </a:lnSpc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Runs on Budget Hardware: Fully optimized via int8 quantization for ultra-budget ₹8,000–₹10,000 Android phones (Cortex-A53/A55, 4 GB RAM). </a:t>
                      </a:r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1984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891"/>
                        </a:lnSpc>
                      </a:pPr>
                    </a:p>
                    <a:p>
                      <a:pPr algn="ctr">
                        <a:lnSpc>
                          <a:spcPts val="1891"/>
                        </a:lnSpc>
                      </a:pPr>
                    </a:p>
                    <a:p>
                      <a:pPr algn="ctr">
                        <a:lnSpc>
                          <a:spcPts val="1891"/>
                        </a:lnSpc>
                      </a:pPr>
                      <a:r>
                        <a:rPr lang="en-US" sz="1576" b="true">
                          <a:solidFill>
                            <a:srgbClr val="21212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ENVIRONMENT · STRATEGIC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 on Budget Hardware: Fully optimized via int8 quantization for ultra-budget ₹8,000–₹10,000 Android phones (Cortex-A53/A55, 2 GB RAM). </a:t>
                      </a:r>
                      <a:endParaRPr lang="en-US" sz="1100"/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  <a:p>
                      <a:pPr algn="l">
                        <a:lnSpc>
                          <a:spcPts val="1891"/>
                        </a:lnSpc>
                      </a:pPr>
                      <a:r>
                        <a:rPr lang="en-US" sz="1576">
                          <a:solidFill>
                            <a:srgbClr val="0E7C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Battery Footprint: Silero-VAD gate draws &lt;15% single-core CPU during idle listening, giving 8+ hours of armed standby. </a:t>
                      </a:r>
                    </a:p>
                    <a:p>
                      <a:pPr algn="l">
                        <a:lnSpc>
                          <a:spcPts val="1891"/>
                        </a:lnSpc>
                      </a:pP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8225158" y="1456288"/>
            <a:ext cx="7738110" cy="519646"/>
            <a:chOff x="0" y="0"/>
            <a:chExt cx="10285895" cy="690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85892" cy="690737"/>
            </a:xfrm>
            <a:custGeom>
              <a:avLst/>
              <a:gdLst/>
              <a:ahLst/>
              <a:cxnLst/>
              <a:rect r="r" b="b" t="t" l="l"/>
              <a:pathLst>
                <a:path h="690737" w="10285892">
                  <a:moveTo>
                    <a:pt x="0" y="0"/>
                  </a:moveTo>
                  <a:lnTo>
                    <a:pt x="10285892" y="0"/>
                  </a:lnTo>
                  <a:lnTo>
                    <a:pt x="10285892" y="690737"/>
                  </a:lnTo>
                  <a:lnTo>
                    <a:pt x="0" y="690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410" r="0" b="-2299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285895" cy="70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17543" y="1520377"/>
            <a:ext cx="9142849" cy="455557"/>
            <a:chOff x="0" y="0"/>
            <a:chExt cx="10285895" cy="5125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85892" cy="512509"/>
            </a:xfrm>
            <a:custGeom>
              <a:avLst/>
              <a:gdLst/>
              <a:ahLst/>
              <a:cxnLst/>
              <a:rect r="r" b="b" t="t" l="l"/>
              <a:pathLst>
                <a:path h="512509" w="10285892">
                  <a:moveTo>
                    <a:pt x="0" y="0"/>
                  </a:moveTo>
                  <a:lnTo>
                    <a:pt x="10285892" y="0"/>
                  </a:lnTo>
                  <a:lnTo>
                    <a:pt x="10285892" y="512509"/>
                  </a:lnTo>
                  <a:lnTo>
                    <a:pt x="0" y="5125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491" r="0" b="-3446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0285895" cy="52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1"/>
                </a:lnSpc>
              </a:pPr>
              <a:r>
                <a:rPr lang="en-US" sz="2226" b="true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Benifits</a:t>
              </a: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741279" y="8551609"/>
          <a:ext cx="16719113" cy="1490662"/>
        </p:xfrm>
        <a:graphic>
          <a:graphicData uri="http://schemas.openxmlformats.org/drawingml/2006/table">
            <a:tbl>
              <a:tblPr/>
              <a:tblGrid>
                <a:gridCol w="3312033"/>
                <a:gridCol w="3280762"/>
                <a:gridCol w="3674459"/>
                <a:gridCol w="3293584"/>
                <a:gridCol w="3158275"/>
              </a:tblGrid>
              <a:tr h="14906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2A9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50–100×</a:t>
                      </a:r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lighter than audio codecs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b="true" sz="1999">
                          <a:solidFill>
                            <a:srgbClr val="F2A9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≤ 2–3 s</a:t>
                      </a:r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mouth-to-ear latency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b="true" sz="1999">
                          <a:solidFill>
                            <a:srgbClr val="F2A9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10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Indian languages, offline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b="true" sz="1999">
                          <a:solidFill>
                            <a:srgbClr val="F2A9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₹0</a:t>
                      </a:r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network / infra cost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b="true" sz="1999">
                          <a:solidFill>
                            <a:srgbClr val="F2A9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8 h+</a:t>
                      </a:r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armed standby battery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 b="true">
                          <a:solidFill>
                            <a:srgbClr val="F2A9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 </a:t>
                      </a:r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0963" y="-5825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228725" y="1773467"/>
          <a:ext cx="15614405" cy="3370033"/>
        </p:xfrm>
        <a:graphic>
          <a:graphicData uri="http://schemas.openxmlformats.org/drawingml/2006/table">
            <a:tbl>
              <a:tblPr/>
              <a:tblGrid>
                <a:gridCol w="3189540"/>
                <a:gridCol w="4182156"/>
                <a:gridCol w="4251133"/>
                <a:gridCol w="3991576"/>
              </a:tblGrid>
              <a:tr h="7239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b="true" sz="1492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Capability / Feature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2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SANWAD </a:t>
                      </a:r>
                      <a:r>
                        <a:rPr lang="en-US" b="true" sz="1492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(Proposed)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b="true" sz="1492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Standard Walkie-Talkie (VHF)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b="true" sz="1492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Opus over WebRTC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  <a:tr h="529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Channel Bitrate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~0.5 – 1.0 kbps (Text)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Analog (Broadband RF)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– 32 kbps (Compressed)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29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Infrastructure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Zero (Ad-Hoc P2P)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 Line-of-Sight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Wi-Fi access point required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29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Cross-l</a:t>
                      </a: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anguage speech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(Local STT &amp; TTS)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(Raw Audio Only)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(Raw Audio Only)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29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Non-Interruptible Max Alert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(USAGE_ALARM Override)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Volume Knob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Subject to Media Volume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29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Device Power Consumption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Ultra-Low (VAD-gated BLE scan)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Continuous RF Drain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26"/>
                        </a:lnSpc>
                        <a:defRPr/>
                      </a:pPr>
                      <a:r>
                        <a:rPr lang="en-US" sz="160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385795" y="5405515"/>
            <a:ext cx="14482081" cy="423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Whisper, Radford et al., 2022 — https://arxiv.org/abs/2212.04356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Conformer, Gulati et al., Interspeech 2020 — arxiv.org/abs/2005.08100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VITS, Kim et al., ICML 2021 — arxiv.org/abs/2106.06103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IndicConformer (MIT) — github.com/AI4Bharat/IndicConformerASR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IndicConformer 120M CTC ONNX — huggingface.co/trysem/indicconformer-120m-onnx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IndicF5 — huggingface.co/ai4bharat/IndicF5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Silero-VAD — github.com/snakers4/silero-vad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sherpa-onnx — github.com/k2-fsa/sherpa-onnx</a:t>
            </a:r>
          </a:p>
          <a:p>
            <a:pPr algn="l" marL="459318" indent="-229659" lvl="1">
              <a:lnSpc>
                <a:spcPts val="3082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ONNX Runtime Mobile — onnxruntime.ai/docs/tutorials/mobile</a:t>
            </a:r>
          </a:p>
          <a:p>
            <a:pPr algn="l" marL="459318" indent="-229659" lvl="1">
              <a:lnSpc>
                <a:spcPts val="3082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RFC 4838, Delay-Tolerant Networking — rfc-editor.org/rfc/rfc4838</a:t>
            </a:r>
          </a:p>
          <a:p>
            <a:pPr algn="l" marL="459318" indent="-229659" lvl="1">
              <a:lnSpc>
                <a:spcPts val="3083"/>
              </a:lnSpc>
              <a:buFont typeface="Arial"/>
              <a:buChar char="•"/>
            </a:pPr>
            <a:r>
              <a:rPr lang="en-US" sz="2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ggwave (data-over-sound) — github.com/ggerganov/ggwave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DAHUWUObKEk</dc:identifier>
  <dcterms:modified xsi:type="dcterms:W3CDTF">2011-08-01T06:04:30Z</dcterms:modified>
  <cp:revision>1</cp:revision>
  <dc:title>SIH - 173</dc:title>
</cp:coreProperties>
</file>