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3268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 i="0" spc="250">
                <a:solidFill>
                  <a:srgbClr val="F47B20"/>
                </a:solidFill>
                <a:latin typeface="Calibri"/>
              </a:rPr>
              <a:t>SMART INDIA HACKATHON 2026  ·  PROBLEM STATEMENT 26173  ·  ISRO SPACE APPLICATIONS CENTRE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6000" b="1" i="0">
                <a:solidFill>
                  <a:srgbClr val="FFFFFF"/>
                </a:solidFill>
                <a:latin typeface="Calibri"/>
              </a:rPr>
              <a:t>Sanwad </a:t>
            </a:r>
            <a:r>
              <a:rPr sz="4000" b="1" i="0">
                <a:solidFill>
                  <a:srgbClr val="F47B20"/>
                </a:solidFill>
                <a:latin typeface="Nirmala UI"/>
              </a:rPr>
              <a:t>संवाद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889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1" i="0">
                <a:solidFill>
                  <a:srgbClr val="FFFFFF"/>
                </a:solidFill>
                <a:latin typeface="Calibri"/>
              </a:rPr>
              <a:t>Voice in.  Text across.  Voice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10128"/>
            <a:ext cx="9875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C9D5E6"/>
                </a:solidFill>
                <a:latin typeface="Calibri"/>
              </a:rPr>
              <a:t>A fully offline, open-source emergency walkie-talkie for Android. Local STT + TTS in 10 Indian languages — built for the links where audio simply cannot fit.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617720"/>
            <a:ext cx="1923897" cy="457200"/>
          </a:xfrm>
          <a:prstGeom prst="roundRect">
            <a:avLst>
              <a:gd name="adj" fmla="val 50000"/>
            </a:avLst>
          </a:prstGeom>
          <a:solidFill>
            <a:srgbClr val="122C50"/>
          </a:solidFill>
          <a:ln w="12700">
            <a:solidFill>
              <a:srgbClr val="2E4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617720"/>
            <a:ext cx="1923897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 i="0" spc="150">
                <a:solidFill>
                  <a:srgbClr val="FFFFFF"/>
                </a:solidFill>
                <a:latin typeface="Calibri"/>
              </a:rPr>
              <a:t>100% ON-DEVICE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01137" y="4617720"/>
            <a:ext cx="1974189" cy="457200"/>
          </a:xfrm>
          <a:prstGeom prst="roundRect">
            <a:avLst>
              <a:gd name="adj" fmla="val 50000"/>
            </a:avLst>
          </a:prstGeom>
          <a:solidFill>
            <a:srgbClr val="122C50"/>
          </a:solidFill>
          <a:ln w="12700">
            <a:solidFill>
              <a:srgbClr val="2E4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1137" y="4617720"/>
            <a:ext cx="197418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 i="0" spc="150">
                <a:solidFill>
                  <a:srgbClr val="FFFFFF"/>
                </a:solidFill>
                <a:latin typeface="Calibri"/>
              </a:rPr>
              <a:t>10 INDIAN LANGUAGES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03927" y="4617720"/>
            <a:ext cx="1944014" cy="457200"/>
          </a:xfrm>
          <a:prstGeom prst="roundRect">
            <a:avLst>
              <a:gd name="adj" fmla="val 50000"/>
            </a:avLst>
          </a:prstGeom>
          <a:solidFill>
            <a:srgbClr val="122C50"/>
          </a:solidFill>
          <a:ln w="12700">
            <a:solidFill>
              <a:srgbClr val="2E4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3927" y="4617720"/>
            <a:ext cx="1944014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 i="0" spc="150">
                <a:solidFill>
                  <a:srgbClr val="FFFFFF"/>
                </a:solidFill>
                <a:latin typeface="Calibri"/>
              </a:rPr>
              <a:t>OPEN SOURCE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0" i="0">
                <a:solidFill>
                  <a:srgbClr val="C9D5E6"/>
                </a:solidFill>
                <a:latin typeface="Calibri"/>
              </a:rPr>
              <a:t>Team:  ______________________________</a:t>
            </a:r>
            <a:r>
              <a:rPr sz="1250" b="0" i="0">
                <a:solidFill>
                  <a:srgbClr val="C9D5E6"/>
                </a:solidFill>
                <a:latin typeface="Calibri"/>
              </a:rPr>
              <a:t>          Team ID:  </a:t>
            </a:r>
            <a:r>
              <a:rPr sz="1250" b="1" i="0">
                <a:solidFill>
                  <a:srgbClr val="F47B20"/>
                </a:solidFill>
                <a:latin typeface="Calibri"/>
              </a:rPr>
              <a:t>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 spc="300">
                <a:solidFill>
                  <a:srgbClr val="F47B20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0A1E3C"/>
                </a:solidFill>
                <a:latin typeface="Calibri"/>
              </a:rPr>
              <a:t>When the network dies, voice is the last link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51560" cy="41148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5C6B82"/>
                </a:solidFill>
                <a:latin typeface="Calibri"/>
              </a:rPr>
              <a:t>Sanwad  ·  PS 26173  ·  ISRO SAC  ·  SIH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51052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1" i="0">
                <a:solidFill>
                  <a:srgbClr val="5C6B82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63550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20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0A1E3C"/>
                </a:solidFill>
                <a:latin typeface="Calibri"/>
              </a:rPr>
              <a:t>Disasters take the network first. </a:t>
            </a:r>
            <a:r>
              <a:rPr sz="1200" b="0" i="0">
                <a:solidFill>
                  <a:srgbClr val="1B2A44"/>
                </a:solidFill>
                <a:latin typeface="Calibri"/>
              </a:rPr>
              <a:t>Floods, cyclones, quakes and coastal operations cut cellular exactly when communication matters most.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20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0A1E3C"/>
                </a:solidFill>
                <a:latin typeface="Calibri"/>
              </a:rPr>
              <a:t>Emergency links are narrowband. </a:t>
            </a:r>
            <a:r>
              <a:rPr sz="1200" b="0" i="0">
                <a:solidFill>
                  <a:srgbClr val="1B2A44"/>
                </a:solidFill>
                <a:latin typeface="Calibri"/>
              </a:rPr>
              <a:t>Satellite / HF–VHF channels carry a few hundred bits per second — not kilobits.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20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0A1E3C"/>
                </a:solidFill>
                <a:latin typeface="Calibri"/>
              </a:rPr>
              <a:t>Voice is 8–16 kbps, continuous. </a:t>
            </a:r>
            <a:r>
              <a:rPr sz="1200" b="0" i="0">
                <a:solidFill>
                  <a:srgbClr val="1B2A44"/>
                </a:solidFill>
                <a:latin typeface="Calibri"/>
              </a:rPr>
              <a:t>It physically cannot fit a few-hundred-bps link, however compressed.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20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0A1E3C"/>
                </a:solidFill>
                <a:latin typeface="Calibri"/>
              </a:rPr>
              <a:t>SMS fits — but context doesn't. </a:t>
            </a:r>
            <a:r>
              <a:rPr sz="1200" b="0" i="0">
                <a:solidFill>
                  <a:srgbClr val="1B2A44"/>
                </a:solidFill>
                <a:latin typeface="Calibri"/>
              </a:rPr>
              <a:t>Injuries, location, boat condition: in a crisis, people must speak, not type.</a:t>
            </a:r>
          </a:p>
          <a:p>
            <a:pPr algn="l">
              <a:lnSpc>
                <a:spcPct val="112000"/>
              </a:lnSpc>
              <a:spcBef>
                <a:spcPts val="800"/>
              </a:spcBef>
            </a:pPr>
            <a:r>
              <a:rPr sz="120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200" b="1" i="0">
                <a:solidFill>
                  <a:srgbClr val="0A1E3C"/>
                </a:solidFill>
                <a:latin typeface="Calibri"/>
              </a:rPr>
              <a:t>Panic, noise, non-literate users. </a:t>
            </a:r>
            <a:r>
              <a:rPr sz="1200" b="0" i="0">
                <a:solidFill>
                  <a:srgbClr val="1B2A44"/>
                </a:solidFill>
                <a:latin typeface="Calibri"/>
              </a:rPr>
              <a:t>Speaking is the most inclusive, natural interface — if the link can carry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481328"/>
            <a:ext cx="4465015" cy="3246120"/>
          </a:xfrm>
          <a:prstGeom prst="roundRect">
            <a:avLst>
              <a:gd name="adj" fmla="val 5500"/>
            </a:avLst>
          </a:prstGeom>
          <a:solidFill>
            <a:srgbClr val="F3F7FB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78040" y="1481328"/>
            <a:ext cx="64008" cy="3246120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0648" y="1719072"/>
            <a:ext cx="391637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 i="0" spc="200">
                <a:solidFill>
                  <a:srgbClr val="F47B20"/>
                </a:solidFill>
                <a:latin typeface="Calibri"/>
              </a:rPr>
              <a:t>REAL-WORLD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0648" y="2121408"/>
            <a:ext cx="3898087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1B2A44"/>
                </a:solidFill>
                <a:latin typeface="Calibri"/>
              </a:rPr>
              <a:t>A fisher off the Konkan coast: one crewman injured, boat taking on water. Cellular is dead; a voice call is impossible over the low-rate link. SMS can't say “third man — arm bleed — leaking fast” — and nobody can answer by voice.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74920"/>
            <a:ext cx="11094415" cy="960120"/>
          </a:xfrm>
          <a:prstGeom prst="roundRect">
            <a:avLst>
              <a:gd name="adj" fmla="val 12000"/>
            </a:avLst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10454335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47B20"/>
                </a:solidFill>
                <a:latin typeface="Calibri"/>
              </a:rPr>
              <a:t>The hidden trap:  </a:t>
            </a:r>
            <a:r>
              <a:rPr sz="1300" b="0" i="1">
                <a:solidFill>
                  <a:srgbClr val="FFFFFF"/>
                </a:solidFill>
                <a:latin typeface="Calibri"/>
              </a:rPr>
              <a:t>the phone “always works” — until it is the only thing that doesn't. The last mile of crisis communication is a link too thin for audio.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 spc="300">
                <a:solidFill>
                  <a:srgbClr val="F47B20"/>
                </a:solidFill>
                <a:latin typeface="Calibri"/>
              </a:rPr>
              <a:t>WHY SANWAD IS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0A1E3C"/>
                </a:solidFill>
                <a:latin typeface="Calibri"/>
              </a:rPr>
              <a:t>50–100× less data than audio — the same voice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51560" cy="41148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5C6B82"/>
                </a:solidFill>
                <a:latin typeface="Calibri"/>
              </a:rPr>
              <a:t>Sanwad  ·  PS 26173  ·  ISRO SAC  ·  SIH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51052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1" i="0">
                <a:solidFill>
                  <a:srgbClr val="5C6B82"/>
                </a:solidFill>
                <a:latin typeface="Calibr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 i="1">
                <a:solidFill>
                  <a:srgbClr val="5C6B82"/>
                </a:solidFill>
                <a:latin typeface="Calibri"/>
              </a:rPr>
              <a:t>Per 5-second utterance — same units, same window: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19072"/>
            <a:ext cx="3576218" cy="1371600"/>
          </a:xfrm>
          <a:prstGeom prst="roundRect">
            <a:avLst>
              <a:gd name="adj" fmla="val 5500"/>
            </a:avLst>
          </a:prstGeom>
          <a:solidFill>
            <a:srgbClr val="F3F7FB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01952"/>
            <a:ext cx="357621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3000" b="1" i="0">
                <a:solidFill>
                  <a:srgbClr val="0A1E3C"/>
                </a:solidFill>
                <a:latin typeface="Calibri"/>
              </a:rPr>
              <a:t>~100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33018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 i="0">
                <a:solidFill>
                  <a:srgbClr val="5C6B82"/>
                </a:solidFill>
                <a:latin typeface="Calibri"/>
              </a:rPr>
              <a:t>Sanwad: one sentence as 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8" y="1719072"/>
            <a:ext cx="3576218" cy="1371600"/>
          </a:xfrm>
          <a:prstGeom prst="roundRect">
            <a:avLst>
              <a:gd name="adj" fmla="val 5500"/>
            </a:avLst>
          </a:prstGeom>
          <a:solidFill>
            <a:srgbClr val="F3F7FB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7738" y="1901952"/>
            <a:ext cx="357621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3000" b="1" i="0">
                <a:solidFill>
                  <a:srgbClr val="0A1E3C"/>
                </a:solidFill>
                <a:latin typeface="Calibri"/>
              </a:rPr>
              <a:t>40–80 KB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4898" y="2578608"/>
            <a:ext cx="33018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 i="0">
                <a:solidFill>
                  <a:srgbClr val="5C6B82"/>
                </a:solidFill>
                <a:latin typeface="Calibri"/>
              </a:rPr>
              <a:t>raw voice at 8–16 kbps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6836" y="1719072"/>
            <a:ext cx="3576218" cy="1371600"/>
          </a:xfrm>
          <a:prstGeom prst="roundRect">
            <a:avLst>
              <a:gd name="adj" fmla="val 5500"/>
            </a:avLst>
          </a:prstGeom>
          <a:solidFill>
            <a:srgbClr val="F3F7FB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6836" y="1901952"/>
            <a:ext cx="357621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3000" b="1" i="0">
                <a:solidFill>
                  <a:srgbClr val="0A1E3C"/>
                </a:solidFill>
                <a:latin typeface="Calibri"/>
              </a:rPr>
              <a:t>50–100×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2578608"/>
            <a:ext cx="330189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0" i="0">
                <a:solidFill>
                  <a:srgbClr val="5C6B82"/>
                </a:solidFill>
                <a:latin typeface="Calibri"/>
              </a:rPr>
              <a:t>less data crosses the link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401568"/>
            <a:ext cx="11094415" cy="1783080"/>
          </a:xfrm>
          <a:prstGeom prst="roundRect">
            <a:avLst>
              <a:gd name="adj" fmla="val 7000"/>
            </a:avLst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39312"/>
            <a:ext cx="103628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 i="0">
                <a:solidFill>
                  <a:srgbClr val="F47B20"/>
                </a:solidFill>
                <a:latin typeface="Calibri"/>
              </a:rPr>
              <a:t>Text-first, voice-at-both-ends.  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The phone speaks at both ends — STT turns speech into text, TTS turns it back — but only ~100 B of text crosses the link. That one decision is why the same app runs over Wi-Fi Direct / Bluetooth today, and ports to LoRa, NavIC-ecosystem messaging and HF/VHF packet links later — no re-architecture.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486400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A1E3C"/>
                </a:solidFill>
                <a:latin typeface="Calibri"/>
              </a:rPr>
              <a:t>vs. existing walkie-talkie apps:  </a:t>
            </a:r>
            <a:r>
              <a:rPr sz="1200" b="0" i="0">
                <a:solidFill>
                  <a:srgbClr val="5C6B82"/>
                </a:solidFill>
                <a:latin typeface="Calibri"/>
              </a:rPr>
              <a:t>cellular-based (die with the network) or VHF radio hardware (new equipment). Sanwad is the phone you already carry.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 spc="300">
                <a:solidFill>
                  <a:srgbClr val="F47B20"/>
                </a:solidFill>
                <a:latin typeface="Calibri"/>
              </a:rPr>
              <a:t>TECHNICAL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0A1E3C"/>
                </a:solidFill>
                <a:latin typeface="Calibri"/>
              </a:rPr>
              <a:t>How a word becomes a voice on the other phone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51560" cy="41148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5C6B82"/>
                </a:solidFill>
                <a:latin typeface="Calibri"/>
              </a:rPr>
              <a:t>Sanwad  ·  PS 26173  ·  ISRO SAC  ·  SIH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51052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1" i="0">
                <a:solidFill>
                  <a:srgbClr val="5C6B82"/>
                </a:solidFill>
                <a:latin typeface="Calibr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 spc="200">
                <a:solidFill>
                  <a:srgbClr val="F47B20"/>
                </a:solidFill>
                <a:latin typeface="Calibri"/>
              </a:rPr>
              <a:t>PHONE A  ·  SPEAK →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19072"/>
            <a:ext cx="214884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1929384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0A1E3C"/>
                </a:solidFill>
                <a:latin typeface="Calibri"/>
              </a:rPr>
              <a:t>Mic + VAD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</a:pPr>
            <a:r>
              <a:rPr sz="950" b="0" i="0">
                <a:solidFill>
                  <a:srgbClr val="5C6B82"/>
                </a:solidFill>
                <a:latin typeface="Calibri"/>
              </a:rPr>
              <a:t>pause &amp; stoppage detection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2761488" y="2135124"/>
            <a:ext cx="274320" cy="310896"/>
          </a:xfrm>
          <a:prstGeom prst="chevron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08960" y="1719072"/>
            <a:ext cx="301752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1719072"/>
            <a:ext cx="279806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0A1E3C"/>
                </a:solidFill>
                <a:latin typeface="Calibri"/>
              </a:rPr>
              <a:t>On-device STT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</a:pPr>
            <a:r>
              <a:rPr sz="950" b="0" i="0">
                <a:solidFill>
                  <a:srgbClr val="5C6B82"/>
                </a:solidFill>
                <a:latin typeface="Calibri"/>
              </a:rPr>
              <a:t>IndicConformer · 10 languages · int8 TFLite</a:t>
            </a:r>
          </a:p>
        </p:txBody>
      </p:sp>
      <p:sp>
        <p:nvSpPr>
          <p:cNvPr id="14" name="Chevron 13"/>
          <p:cNvSpPr/>
          <p:nvPr/>
        </p:nvSpPr>
        <p:spPr>
          <a:xfrm>
            <a:off x="6199632" y="2135124"/>
            <a:ext cx="274320" cy="310896"/>
          </a:xfrm>
          <a:prstGeom prst="chevron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47104" y="1719072"/>
            <a:ext cx="237744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56832" y="1719072"/>
            <a:ext cx="2157984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0A1E3C"/>
                </a:solidFill>
                <a:latin typeface="Calibri"/>
              </a:rPr>
              <a:t>Sentence JSON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</a:pPr>
            <a:r>
              <a:rPr sz="950" b="0" i="0">
                <a:solidFill>
                  <a:srgbClr val="5C6B82"/>
                </a:solidFill>
                <a:latin typeface="Calibri"/>
              </a:rPr>
              <a:t>≈ 100 bytes per sentence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27248"/>
            <a:ext cx="11094415" cy="713232"/>
          </a:xfrm>
          <a:prstGeom prst="roundRect">
            <a:avLst>
              <a:gd name="adj" fmla="val 16000"/>
            </a:avLst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127248"/>
            <a:ext cx="59436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Wi-Fi Direct / Bluetooth 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3273552"/>
            <a:ext cx="3913632" cy="420624"/>
          </a:xfrm>
          <a:prstGeom prst="roundRect">
            <a:avLst>
              <a:gd name="adj" fmla="val 50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0" y="3273552"/>
            <a:ext cx="3913632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950" b="1" i="0" spc="100">
                <a:solidFill>
                  <a:srgbClr val="FFFFFF"/>
                </a:solidFill>
                <a:latin typeface="Calibri"/>
              </a:rPr>
              <a:t>TEXT ONLY — AUDIO NEVER CROSSES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33087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 spc="200">
                <a:solidFill>
                  <a:srgbClr val="F47B20"/>
                </a:solidFill>
                <a:latin typeface="Calibri"/>
              </a:rPr>
              <a:t>PHONE B  ·  TEXT → SPEAK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480560"/>
            <a:ext cx="214884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480560"/>
            <a:ext cx="1929384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0A1E3C"/>
                </a:solidFill>
                <a:latin typeface="Calibri"/>
              </a:rPr>
              <a:t>Local TTS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</a:pPr>
            <a:r>
              <a:rPr sz="950" b="0" i="0">
                <a:solidFill>
                  <a:srgbClr val="5C6B82"/>
                </a:solidFill>
                <a:latin typeface="Calibri"/>
              </a:rPr>
              <a:t>per-language model, on-device</a:t>
            </a:r>
          </a:p>
        </p:txBody>
      </p:sp>
      <p:sp>
        <p:nvSpPr>
          <p:cNvPr id="24" name="Chevron 23"/>
          <p:cNvSpPr/>
          <p:nvPr/>
        </p:nvSpPr>
        <p:spPr>
          <a:xfrm>
            <a:off x="2761488" y="4896612"/>
            <a:ext cx="274320" cy="310896"/>
          </a:xfrm>
          <a:prstGeom prst="chevron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108960" y="4480560"/>
            <a:ext cx="301752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18688" y="4480560"/>
            <a:ext cx="279806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0A1E3C"/>
                </a:solidFill>
                <a:latin typeface="Calibri"/>
              </a:rPr>
              <a:t>Normal message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</a:pPr>
            <a:r>
              <a:rPr sz="950" b="0" i="0">
                <a:solidFill>
                  <a:srgbClr val="5C6B82"/>
                </a:solidFill>
                <a:latin typeface="Calibri"/>
              </a:rPr>
              <a:t>played back as a voice note</a:t>
            </a:r>
          </a:p>
        </p:txBody>
      </p:sp>
      <p:sp>
        <p:nvSpPr>
          <p:cNvPr id="27" name="Chevron 26"/>
          <p:cNvSpPr/>
          <p:nvPr/>
        </p:nvSpPr>
        <p:spPr>
          <a:xfrm>
            <a:off x="6199632" y="4896612"/>
            <a:ext cx="274320" cy="310896"/>
          </a:xfrm>
          <a:prstGeom prst="chevron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547104" y="4480560"/>
            <a:ext cx="356616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4480560"/>
            <a:ext cx="3346704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50" b="1" i="0">
                <a:solidFill>
                  <a:srgbClr val="0A1E3C"/>
                </a:solidFill>
                <a:latin typeface="Calibri"/>
              </a:rPr>
              <a:t>Alert message</a:t>
            </a:r>
          </a:p>
          <a:p>
            <a:pPr algn="ctr">
              <a:lnSpc>
                <a:spcPct val="106000"/>
              </a:lnSpc>
              <a:spcBef>
                <a:spcPts val="200"/>
              </a:spcBef>
            </a:pPr>
            <a:r>
              <a:rPr sz="950" b="0" i="0">
                <a:solidFill>
                  <a:srgbClr val="5C6B82"/>
                </a:solidFill>
                <a:latin typeface="Calibri"/>
              </a:rPr>
              <a:t>highest volume · non-interruptible · bypasses mute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70448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50" b="0" i="0">
                <a:solidFill>
                  <a:srgbClr val="5C6B82"/>
                </a:solidFill>
                <a:latin typeface="Calibri"/>
              </a:rPr>
              <a:t>Push-to-talk walkie-talkie UI  ·  same app on both phones  ·  </a:t>
            </a:r>
            <a:r>
              <a:rPr sz="1150" b="1" i="0">
                <a:solidFill>
                  <a:srgbClr val="0A1E3C"/>
                </a:solidFill>
                <a:latin typeface="Calibri"/>
              </a:rPr>
              <a:t>behaves like a normal phone when the mode is 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 spc="300">
                <a:solidFill>
                  <a:srgbClr val="F47B20"/>
                </a:solidFill>
                <a:latin typeface="Calibri"/>
              </a:rPr>
              <a:t>TECHNOLOGY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0A1E3C"/>
                </a:solidFill>
                <a:latin typeface="Calibri"/>
              </a:rPr>
              <a:t>What we build with — and what we rejected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51560" cy="41148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5C6B82"/>
                </a:solidFill>
                <a:latin typeface="Calibri"/>
              </a:rPr>
              <a:t>Sanwad  ·  PS 26173  ·  ISRO SAC  ·  SIH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51052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1" i="0">
                <a:solidFill>
                  <a:srgbClr val="5C6B82"/>
                </a:solidFill>
                <a:latin typeface="Calibr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81328"/>
            <a:ext cx="5432907" cy="3611880"/>
          </a:xfrm>
          <a:prstGeom prst="roundRect">
            <a:avLst>
              <a:gd name="adj" fmla="val 5500"/>
            </a:avLst>
          </a:prstGeom>
          <a:solidFill>
            <a:srgbClr val="F3F7FB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09928"/>
            <a:ext cx="48842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 spc="200">
                <a:solidFill>
                  <a:srgbClr val="0A1E3C"/>
                </a:solidFill>
                <a:latin typeface="Calibri"/>
              </a:rPr>
              <a:t>STT — SPEECH TO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139696"/>
            <a:ext cx="4884267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0A1E3C"/>
                </a:solidFill>
                <a:latin typeface="Calibri"/>
              </a:rPr>
              <a:t>Primary: IndicConformer (AI4Bharat). </a:t>
            </a:r>
            <a:r>
              <a:rPr sz="1150" b="0" i="0">
                <a:solidFill>
                  <a:srgbClr val="1B2A44"/>
                </a:solidFill>
                <a:latin typeface="Calibri"/>
              </a:rPr>
              <a:t>TFLite int8, fully on-device, 10 languages.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15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0A1E3C"/>
                </a:solidFill>
                <a:latin typeface="Calibri"/>
              </a:rPr>
              <a:t>Fallback: Whisper.cpp. </a:t>
            </a:r>
            <a:r>
              <a:rPr sz="1150" b="0" i="0">
                <a:solidFill>
                  <a:srgbClr val="1B2A44"/>
                </a:solidFill>
                <a:latin typeface="Calibri"/>
              </a:rPr>
              <a:t>Broader accent robustness at a larger footprint.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15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0A1E3C"/>
                </a:solidFill>
                <a:latin typeface="Calibri"/>
              </a:rPr>
              <a:t>Evaluated, not selected: Vosk. </a:t>
            </a:r>
            <a:r>
              <a:rPr sz="1150" b="0" i="0">
                <a:solidFill>
                  <a:srgbClr val="1B2A44"/>
                </a:solidFill>
                <a:latin typeface="Calibri"/>
              </a:rPr>
              <a:t>Indic language coverage below this brief's bar.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15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0A1E3C"/>
                </a:solidFill>
                <a:latin typeface="Calibri"/>
              </a:rPr>
              <a:t>Design rule: </a:t>
            </a:r>
            <a:r>
              <a:rPr sz="1150" b="0" i="0">
                <a:solidFill>
                  <a:srgbClr val="1B2A44"/>
                </a:solidFill>
                <a:latin typeface="Calibri"/>
              </a:rPr>
              <a:t>STT fires on detected pause; emits one compact sentence at a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1481328"/>
            <a:ext cx="5432907" cy="3611880"/>
          </a:xfrm>
          <a:prstGeom prst="roundRect">
            <a:avLst>
              <a:gd name="adj" fmla="val 5500"/>
            </a:avLst>
          </a:prstGeom>
          <a:solidFill>
            <a:srgbClr val="F3F7FB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84467" y="1709928"/>
            <a:ext cx="488426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 spc="200">
                <a:solidFill>
                  <a:srgbClr val="0A1E3C"/>
                </a:solidFill>
                <a:latin typeface="Calibri"/>
              </a:rPr>
              <a:t>TTS — TEXT TO SPEECH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4467" y="2139696"/>
            <a:ext cx="4884267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</a:pPr>
            <a:r>
              <a:rPr sz="115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0A1E3C"/>
                </a:solidFill>
                <a:latin typeface="Calibri"/>
              </a:rPr>
              <a:t>Baseline, all 10 languages: espeak-ng. </a:t>
            </a:r>
            <a:r>
              <a:rPr sz="1150" b="0" i="0">
                <a:solidFill>
                  <a:srgbClr val="1B2A44"/>
                </a:solidFill>
                <a:latin typeface="Calibri"/>
              </a:rPr>
              <a:t>Fully offline, tiny, fast, intelligible.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15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0A1E3C"/>
                </a:solidFill>
                <a:latin typeface="Calibri"/>
              </a:rPr>
              <a:t>Neural where supported: Piper (en / hi). </a:t>
            </a:r>
            <a:r>
              <a:rPr sz="1150" b="0" i="0">
                <a:solidFill>
                  <a:srgbClr val="1B2A44"/>
                </a:solidFill>
                <a:latin typeface="Calibri"/>
              </a:rPr>
              <a:t>Better naturalness for high-frequency alert phrases.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15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0A1E3C"/>
                </a:solidFill>
                <a:latin typeface="Calibri"/>
              </a:rPr>
              <a:t>Priority: speed + intelligibility </a:t>
            </a:r>
            <a:r>
              <a:rPr sz="1150" b="0" i="0">
                <a:solidFill>
                  <a:srgbClr val="1B2A44"/>
                </a:solidFill>
                <a:latin typeface="Calibri"/>
              </a:rPr>
              <a:t>over studio fidelity — this is emergency comms.</a:t>
            </a:r>
          </a:p>
          <a:p>
            <a:pPr algn="l">
              <a:lnSpc>
                <a:spcPct val="112000"/>
              </a:lnSpc>
              <a:spcBef>
                <a:spcPts val="900"/>
              </a:spcBef>
            </a:pPr>
            <a:r>
              <a:rPr sz="115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150" b="1" i="0">
                <a:solidFill>
                  <a:srgbClr val="0A1E3C"/>
                </a:solidFill>
                <a:latin typeface="Calibri"/>
              </a:rPr>
              <a:t>Alerts: </a:t>
            </a:r>
            <a:r>
              <a:rPr sz="1150" b="0" i="0">
                <a:solidFill>
                  <a:srgbClr val="1B2A44"/>
                </a:solidFill>
                <a:latin typeface="Calibri"/>
              </a:rPr>
              <a:t>highest volume, non-interruptible playback, bypasses system mute.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49240"/>
            <a:ext cx="3545738" cy="777240"/>
          </a:xfrm>
          <a:prstGeom prst="roundRect">
            <a:avLst>
              <a:gd name="adj" fmla="val 12000"/>
            </a:avLst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349240"/>
            <a:ext cx="308853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 spc="100">
                <a:solidFill>
                  <a:srgbClr val="F47B20"/>
                </a:solidFill>
                <a:latin typeface="Calibri"/>
              </a:rPr>
              <a:t>100% OFFLINE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no cloud, no cellular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978" y="5349240"/>
            <a:ext cx="3545738" cy="777240"/>
          </a:xfrm>
          <a:prstGeom prst="roundRect">
            <a:avLst>
              <a:gd name="adj" fmla="val 12000"/>
            </a:avLst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1578" y="5349240"/>
            <a:ext cx="308853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 spc="100">
                <a:solidFill>
                  <a:srgbClr val="F47B20"/>
                </a:solidFill>
                <a:latin typeface="Calibri"/>
              </a:rPr>
              <a:t>OPEN SOURCE ONLY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Apache-2.0 / MIT · license audit in progress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7316" y="5349240"/>
            <a:ext cx="3545738" cy="777240"/>
          </a:xfrm>
          <a:prstGeom prst="roundRect">
            <a:avLst>
              <a:gd name="adj" fmla="val 12000"/>
            </a:avLst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5916" y="5349240"/>
            <a:ext cx="308853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 spc="100">
                <a:solidFill>
                  <a:srgbClr val="F47B20"/>
                </a:solidFill>
                <a:latin typeface="Calibri"/>
              </a:rPr>
              <a:t>2 GB RAM TARGET</a:t>
            </a:r>
          </a:p>
          <a:p>
            <a:pPr algn="l">
              <a:lnSpc>
                <a:spcPct val="106000"/>
              </a:lnSpc>
              <a:spcBef>
                <a:spcPts val="300"/>
              </a:spcBef>
            </a:pPr>
            <a:r>
              <a:rPr sz="1000" b="0" i="0">
                <a:solidFill>
                  <a:srgbClr val="FFFFFF"/>
                </a:solidFill>
                <a:latin typeface="Calibri"/>
              </a:rPr>
              <a:t>₹8–10k · Cortex-A53-class devices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 spc="300">
                <a:solidFill>
                  <a:srgbClr val="F47B20"/>
                </a:solidFill>
                <a:latin typeface="Calibri"/>
              </a:rPr>
              <a:t>AGAINST THE EVALUATION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0A1E3C"/>
                </a:solidFill>
                <a:latin typeface="Calibri"/>
              </a:rPr>
              <a:t>Efficiency · Accuracy · Latency — targets we can prove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51560" cy="41148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5C6B82"/>
                </a:solidFill>
                <a:latin typeface="Calibri"/>
              </a:rPr>
              <a:t>Sanwad  ·  PS 26173  ·  ISRO SAC  ·  SIH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51052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1" i="0">
                <a:solidFill>
                  <a:srgbClr val="5C6B82"/>
                </a:solidFill>
                <a:latin typeface="Calibri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44752"/>
            <a:ext cx="3576218" cy="4160520"/>
          </a:xfrm>
          <a:prstGeom prst="roundRect">
            <a:avLst>
              <a:gd name="adj" fmla="val 5500"/>
            </a:avLst>
          </a:prstGeom>
          <a:solidFill>
            <a:srgbClr val="F3F7FB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64208"/>
            <a:ext cx="30275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 spc="200">
                <a:solidFill>
                  <a:srgbClr val="0A1E3C"/>
                </a:solidFill>
                <a:latin typeface="Calibri"/>
              </a:rPr>
              <a:t>EFFICIENCY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64738" y="1645920"/>
            <a:ext cx="713232" cy="365760"/>
          </a:xfrm>
          <a:prstGeom prst="roundRect">
            <a:avLst>
              <a:gd name="adj" fmla="val 50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4738" y="1645920"/>
            <a:ext cx="7132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221992"/>
            <a:ext cx="3027578" cy="3154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0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0A1E3C"/>
                </a:solidFill>
                <a:latin typeface="Calibri"/>
              </a:rPr>
              <a:t>STT model  </a:t>
            </a:r>
            <a:r>
              <a:rPr sz="1100" b="0" i="0">
                <a:solidFill>
                  <a:srgbClr val="1B2A44"/>
                </a:solidFill>
                <a:latin typeface="Calibri"/>
              </a:rPr>
              <a:t>&lt; 300 MB int8, on-device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10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0A1E3C"/>
                </a:solidFill>
                <a:latin typeface="Calibri"/>
              </a:rPr>
              <a:t>App footprint  </a:t>
            </a:r>
            <a:r>
              <a:rPr sz="1100" b="0" i="0">
                <a:solidFill>
                  <a:srgbClr val="1B2A44"/>
                </a:solidFill>
                <a:latin typeface="Calibri"/>
              </a:rPr>
              <a:t>&lt; 500 MB installed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10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0A1E3C"/>
                </a:solidFill>
                <a:latin typeface="Calibri"/>
              </a:rPr>
              <a:t>Memory  </a:t>
            </a:r>
            <a:r>
              <a:rPr sz="1100" b="0" i="0">
                <a:solidFill>
                  <a:srgbClr val="1B2A44"/>
                </a:solidFill>
                <a:latin typeface="Calibri"/>
              </a:rPr>
              <a:t>2 GB RAM target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10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0A1E3C"/>
                </a:solidFill>
                <a:latin typeface="Calibri"/>
              </a:rPr>
              <a:t>Idle listening  </a:t>
            </a:r>
            <a:r>
              <a:rPr sz="1100" b="0" i="0">
                <a:solidFill>
                  <a:srgbClr val="1B2A44"/>
                </a:solidFill>
                <a:latin typeface="Calibri"/>
              </a:rPr>
              <a:t>&lt; 5% CPU (VAD-gated decode)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10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0A1E3C"/>
                </a:solidFill>
                <a:latin typeface="Calibri"/>
              </a:rPr>
              <a:t>Operating cost  </a:t>
            </a:r>
            <a:r>
              <a:rPr sz="1100" b="0" i="0">
                <a:solidFill>
                  <a:srgbClr val="1B2A44"/>
                </a:solidFill>
                <a:latin typeface="Calibri"/>
              </a:rPr>
              <a:t>₹0 recurring cloud / cellular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7738" y="1444752"/>
            <a:ext cx="3576218" cy="4160520"/>
          </a:xfrm>
          <a:prstGeom prst="roundRect">
            <a:avLst>
              <a:gd name="adj" fmla="val 5500"/>
            </a:avLst>
          </a:prstGeom>
          <a:solidFill>
            <a:srgbClr val="F3F7FB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64208"/>
            <a:ext cx="30275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 spc="200">
                <a:solidFill>
                  <a:srgbClr val="0A1E3C"/>
                </a:solidFill>
                <a:latin typeface="Calibri"/>
              </a:rPr>
              <a:t>ACCURACY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23836" y="1645920"/>
            <a:ext cx="713232" cy="365760"/>
          </a:xfrm>
          <a:prstGeom prst="roundRect">
            <a:avLst>
              <a:gd name="adj" fmla="val 50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3836" y="1645920"/>
            <a:ext cx="7132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2058" y="2221992"/>
            <a:ext cx="3027578" cy="3154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10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0A1E3C"/>
                </a:solidFill>
                <a:latin typeface="Calibri"/>
              </a:rPr>
              <a:t>STT WER  </a:t>
            </a:r>
            <a:r>
              <a:rPr sz="1100" b="0" i="0">
                <a:solidFill>
                  <a:srgbClr val="1B2A44"/>
                </a:solidFill>
                <a:latin typeface="Calibri"/>
              </a:rPr>
              <a:t>target on in-domain test set, all 10 languages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10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0A1E3C"/>
                </a:solidFill>
                <a:latin typeface="Calibri"/>
              </a:rPr>
              <a:t>TTS  </a:t>
            </a:r>
            <a:r>
              <a:rPr sz="1100" b="0" i="0">
                <a:solidFill>
                  <a:srgbClr val="1B2A44"/>
                </a:solidFill>
                <a:latin typeface="Calibri"/>
              </a:rPr>
              <a:t>human legibility + flow panel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10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0A1E3C"/>
                </a:solidFill>
                <a:latin typeface="Calibri"/>
              </a:rPr>
              <a:t>Safety net  </a:t>
            </a:r>
            <a:r>
              <a:rPr sz="1100" b="0" i="0">
                <a:solidFill>
                  <a:srgbClr val="1B2A44"/>
                </a:solidFill>
                <a:latin typeface="Calibri"/>
              </a:rPr>
              <a:t>text preview before playback — errors visible, fixable</a:t>
            </a:r>
          </a:p>
          <a:p>
            <a:pPr algn="l">
              <a:lnSpc>
                <a:spcPct val="118000"/>
              </a:lnSpc>
              <a:spcBef>
                <a:spcPts val="800"/>
              </a:spcBef>
            </a:pPr>
            <a:r>
              <a:rPr sz="1100" b="1" i="0">
                <a:solidFill>
                  <a:srgbClr val="F47B20"/>
                </a:solidFill>
                <a:latin typeface="Calibri"/>
              </a:rPr>
              <a:t>•  </a:t>
            </a:r>
            <a:r>
              <a:rPr sz="1100" b="1" i="0">
                <a:solidFill>
                  <a:srgbClr val="0A1E3C"/>
                </a:solidFill>
                <a:latin typeface="Calibri"/>
              </a:rPr>
              <a:t>Tuning loop  </a:t>
            </a:r>
            <a:r>
              <a:rPr sz="1100" b="0" i="0">
                <a:solidFill>
                  <a:srgbClr val="1B2A44"/>
                </a:solidFill>
                <a:latin typeface="Calibri"/>
              </a:rPr>
              <a:t>fine-tune / swap model per language if WER misses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1444752"/>
            <a:ext cx="3576218" cy="4160520"/>
          </a:xfrm>
          <a:prstGeom prst="roundRect">
            <a:avLst>
              <a:gd name="adj" fmla="val 5500"/>
            </a:avLst>
          </a:prstGeom>
          <a:solidFill>
            <a:srgbClr val="F3F7FB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1156" y="1664208"/>
            <a:ext cx="30275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 i="0" spc="200">
                <a:solidFill>
                  <a:srgbClr val="0A1E3C"/>
                </a:solidFill>
                <a:latin typeface="Calibri"/>
              </a:rPr>
              <a:t>LATENCY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82935" y="1645920"/>
            <a:ext cx="713232" cy="365760"/>
          </a:xfrm>
          <a:prstGeom prst="roundRect">
            <a:avLst>
              <a:gd name="adj" fmla="val 50000"/>
            </a:avLst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82935" y="1645920"/>
            <a:ext cx="7132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1156" y="2313432"/>
            <a:ext cx="23417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B2A44"/>
                </a:solidFill>
                <a:latin typeface="Calibri"/>
              </a:rPr>
              <a:t>STT — pause detect + decode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54335" y="2313432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1" i="0">
                <a:solidFill>
                  <a:srgbClr val="0A1E3C"/>
                </a:solidFill>
                <a:latin typeface="Calibri"/>
              </a:rPr>
              <a:t>1.5–2.5 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41156" y="2811780"/>
            <a:ext cx="3027578" cy="10972"/>
          </a:xfrm>
          <a:prstGeom prst="rect">
            <a:avLst/>
          </a:prstGeom>
          <a:solidFill>
            <a:srgbClr val="D9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1156" y="2880360"/>
            <a:ext cx="23417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B2A44"/>
                </a:solidFill>
                <a:latin typeface="Calibri"/>
              </a:rPr>
              <a:t>Transport — Wi-Fi Direct / BLE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54335" y="2880360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1" i="0">
                <a:solidFill>
                  <a:srgbClr val="0A1E3C"/>
                </a:solidFill>
                <a:latin typeface="Calibri"/>
              </a:rPr>
              <a:t>&lt; 0.5 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41156" y="3378708"/>
            <a:ext cx="3027578" cy="10972"/>
          </a:xfrm>
          <a:prstGeom prst="rect">
            <a:avLst/>
          </a:prstGeom>
          <a:solidFill>
            <a:srgbClr val="D9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1156" y="3447288"/>
            <a:ext cx="23417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1B2A44"/>
                </a:solidFill>
                <a:latin typeface="Calibri"/>
              </a:rPr>
              <a:t>TTS — synthesize + start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54335" y="3447288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1" i="0">
                <a:solidFill>
                  <a:srgbClr val="0A1E3C"/>
                </a:solidFill>
                <a:latin typeface="Calibri"/>
              </a:rPr>
              <a:t>&lt; 1.5 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41156" y="3945636"/>
            <a:ext cx="3027578" cy="10972"/>
          </a:xfrm>
          <a:prstGeom prst="rect">
            <a:avLst/>
          </a:prstGeom>
          <a:solidFill>
            <a:srgbClr val="D9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1156" y="4014216"/>
            <a:ext cx="234177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0A1E3C"/>
                </a:solidFill>
                <a:latin typeface="Calibri"/>
              </a:rPr>
              <a:t>Mouth-to-ear total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54335" y="4014216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200" b="1" i="0">
                <a:solidFill>
                  <a:srgbClr val="F47B20"/>
                </a:solidFill>
                <a:latin typeface="Calibri"/>
              </a:rPr>
              <a:t>≤ 4–5 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41156" y="4599432"/>
            <a:ext cx="302757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1">
                <a:solidFill>
                  <a:srgbClr val="5C6B82"/>
                </a:solidFill>
                <a:latin typeface="Calibri"/>
              </a:rPr>
              <a:t>RTF target &lt; 0.5  ·  measured on target device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0644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47B20"/>
                </a:solidFill>
                <a:latin typeface="Calibri"/>
              </a:rPr>
              <a:t>Honest note:  </a:t>
            </a:r>
            <a:r>
              <a:rPr sz="1100" b="0" i="0">
                <a:solidFill>
                  <a:srgbClr val="5C6B82"/>
                </a:solidFill>
                <a:latin typeface="Calibri"/>
              </a:rPr>
              <a:t>these are design targets, not measurements. Benchmarking is planned on a ₹8–10k device; we will present measured numbers at demo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 i="0" spc="300">
                <a:solidFill>
                  <a:srgbClr val="F47B20"/>
                </a:solidFill>
                <a:latin typeface="Calibri"/>
              </a:rPr>
              <a:t>ROADMAP &amp; ADOPTION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0A1E3C"/>
                </a:solidFill>
                <a:latin typeface="Calibri"/>
              </a:rPr>
              <a:t>From a two-phone demo to a district-scale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07008"/>
            <a:ext cx="1051560" cy="41148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 i="0">
                <a:solidFill>
                  <a:srgbClr val="5C6B82"/>
                </a:solidFill>
                <a:latin typeface="Calibri"/>
              </a:rPr>
              <a:t>Sanwad  ·  PS 26173  ·  ISRO SAC  ·  SIH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510528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1" i="0">
                <a:solidFill>
                  <a:srgbClr val="5C6B82"/>
                </a:solidFill>
                <a:latin typeface="Calibri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44752"/>
            <a:ext cx="3576218" cy="2331720"/>
          </a:xfrm>
          <a:prstGeom prst="roundRect">
            <a:avLst>
              <a:gd name="adj" fmla="val 5500"/>
            </a:avLst>
          </a:prstGeom>
          <a:solidFill>
            <a:srgbClr val="F3F7FB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44752"/>
            <a:ext cx="3576218" cy="82296"/>
          </a:xfrm>
          <a:prstGeom prst="rect">
            <a:avLst/>
          </a:prstGeom>
          <a:solidFill>
            <a:srgbClr val="F47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691640"/>
            <a:ext cx="30275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 spc="150">
                <a:solidFill>
                  <a:srgbClr val="0A1E3C"/>
                </a:solidFill>
                <a:latin typeface="Calibri"/>
              </a:rPr>
              <a:t>PHASE 1 · NOW (SIH)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03120"/>
            <a:ext cx="302757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A44"/>
                </a:solidFill>
                <a:latin typeface="Calibri"/>
              </a:rPr>
              <a:t>Complete Android app. Live walkie-talkie demo: two phones over Wi-Fi Direct / Bluetooth, STT→TTS in 10 languages, with an on-screen packet log proving only text crosses the link.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7738" y="1444752"/>
            <a:ext cx="3576218" cy="2331720"/>
          </a:xfrm>
          <a:prstGeom prst="roundRect">
            <a:avLst>
              <a:gd name="adj" fmla="val 5500"/>
            </a:avLst>
          </a:prstGeom>
          <a:solidFill>
            <a:srgbClr val="F3F7FB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7738" y="1444752"/>
            <a:ext cx="3576218" cy="82296"/>
          </a:xfrm>
          <a:prstGeom prst="rect">
            <a:avLst/>
          </a:prstGeom>
          <a:solidFill>
            <a:srgbClr val="D9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1691640"/>
            <a:ext cx="30275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 spc="150">
                <a:solidFill>
                  <a:srgbClr val="0A1E3C"/>
                </a:solidFill>
                <a:latin typeface="Calibri"/>
              </a:rPr>
              <a:t>PHASE 2 · FIELD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2058" y="2103120"/>
            <a:ext cx="302757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A44"/>
                </a:solidFill>
                <a:latin typeface="Calibri"/>
              </a:rPr>
              <a:t>LoRa bridge for mesh relay. Low-rate messaging study (NavIC-ecosystem / HF–VHF packet). Pilots with NDRF and state maritime boards.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1444752"/>
            <a:ext cx="3576218" cy="2331720"/>
          </a:xfrm>
          <a:prstGeom prst="roundRect">
            <a:avLst>
              <a:gd name="adj" fmla="val 5500"/>
            </a:avLst>
          </a:prstGeom>
          <a:solidFill>
            <a:srgbClr val="F3F7FB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6836" y="1444752"/>
            <a:ext cx="3576218" cy="82296"/>
          </a:xfrm>
          <a:prstGeom prst="rect">
            <a:avLst/>
          </a:prstGeom>
          <a:solidFill>
            <a:srgbClr val="D9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1156" y="1691640"/>
            <a:ext cx="302757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 spc="150">
                <a:solidFill>
                  <a:srgbClr val="0A1E3C"/>
                </a:solidFill>
                <a:latin typeface="Calibri"/>
              </a:rPr>
              <a:t>PHASE 3 ·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1156" y="2103120"/>
            <a:ext cx="302757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B2A44"/>
                </a:solidFill>
                <a:latin typeface="Calibri"/>
              </a:rPr>
              <a:t>B2G distribution with district administrations (DPI). Multilingual alert library. Per-language model updates.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41648"/>
            <a:ext cx="11094415" cy="658368"/>
          </a:xfrm>
          <a:prstGeom prst="roundRect">
            <a:avLst>
              <a:gd name="adj" fmla="val 5500"/>
            </a:avLst>
          </a:prstGeom>
          <a:solidFill>
            <a:srgbClr val="F3F7FB"/>
          </a:solidFill>
          <a:ln w="12700">
            <a:solidFill>
              <a:srgbClr val="D9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041648"/>
            <a:ext cx="1045433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0A1E3C"/>
                </a:solidFill>
                <a:latin typeface="Calibri"/>
              </a:rPr>
              <a:t>Target adoption path (hypothesis to test, not assumption):  </a:t>
            </a:r>
            <a:r>
              <a:rPr sz="1150" b="0" i="0">
                <a:solidFill>
                  <a:srgbClr val="1B2A44"/>
                </a:solidFill>
                <a:latin typeface="Calibri"/>
              </a:rPr>
              <a:t>NDRF  →  state maritime boards  →  district administrations (DPI).  Pilots in negotiation.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19472"/>
            <a:ext cx="11094415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47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19472"/>
            <a:ext cx="1045433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F47B20"/>
                </a:solidFill>
                <a:latin typeface="Calibri"/>
              </a:rPr>
              <a:t>We ask ISRO:  </a:t>
            </a:r>
            <a:r>
              <a:rPr sz="1150" b="0" i="0">
                <a:solidFill>
                  <a:srgbClr val="1B2A44"/>
                </a:solidFill>
                <a:latin typeface="Calibri"/>
              </a:rPr>
              <a:t>guidance on low-rate messaging specs (bit budget, update interval) and support for a field pilot.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870448"/>
            <a:ext cx="11094415" cy="502920"/>
          </a:xfrm>
          <a:prstGeom prst="roundRect">
            <a:avLst>
              <a:gd name="adj" fmla="val 20000"/>
            </a:avLst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870448"/>
            <a:ext cx="11094415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Zero recurring cloud or cellular cost.  Words travel even when data can't.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